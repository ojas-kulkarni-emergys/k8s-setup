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66" r:id="rId2"/>
    <p:sldId id="267" r:id="rId3"/>
    <p:sldId id="257" r:id="rId4"/>
    <p:sldId id="268" r:id="rId5"/>
    <p:sldId id="269" r:id="rId6"/>
    <p:sldId id="259" r:id="rId7"/>
    <p:sldId id="271" r:id="rId8"/>
    <p:sldId id="260" r:id="rId9"/>
    <p:sldId id="274" r:id="rId10"/>
    <p:sldId id="273" r:id="rId11"/>
    <p:sldId id="278" r:id="rId12"/>
    <p:sldId id="263" r:id="rId13"/>
    <p:sldId id="276" r:id="rId14"/>
    <p:sldId id="277" r:id="rId15"/>
    <p:sldId id="27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0000000-0000-0000-0000-000000000000}" v="3005" dt="2026-10-27T14:16:26.745"/>
    <p1510:client id="{492EA507-FE2F-740C-7C58-6FF464B00366}" v="5" dt="2026-10-27T12:06:49.4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ojas-kulkarni-emergys/sampling-kv-cache-lab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ojas-kulkarni-emergys/sampling-kv-cache-lab" TargetMode="Externa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ojas-kulkarni-emergys/sampling-kv-cache-lab" TargetMode="Externa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ojas-kulkarni-emergys/sampling-kv-cache-lab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ojas-kulkarni-emergys/sampling-kv-cache-lab" TargetMode="Externa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ojas-kulkarni-emergys/k8s-setup" TargetMode="External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ojas-kulkarni-emergys/k8s-setup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ojas-kulkarni-emergys/sampling-kv-cache-lab" TargetMode="Externa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ojas-kulkarni-emergys/sampling-kv-cache-lab" TargetMode="Externa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ojas-kulkarni-emergys/sampling-kv-cache-lab" TargetMode="Externa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flounder-sphere-dab.ngrok-free.dev/gradio" TargetMode="External"/><Relationship Id="rId4" Type="http://schemas.openxmlformats.org/officeDocument/2006/relationships/hyperlink" Target="https://github.com/ojas-kulkarni-emergys/sampling-kv-cache-lab" TargetMode="Externa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hyperlink" Target="https://github.com/ojas-kulkarni-emergys/k8s-setup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flounder-sphere-dab.ngrok-free.dev/prometheus/query" TargetMode="External"/><Relationship Id="rId5" Type="http://schemas.openxmlformats.org/officeDocument/2006/relationships/image" Target="../media/image7.png"/><Relationship Id="rId4" Type="http://schemas.openxmlformats.org/officeDocument/2006/relationships/hyperlink" Target="https://flounder-sphere-dab.ngrok-free.dev/grafana/d/vllm-overview/vllm-inference-overview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ojas-kulkarni-emergys/k8s-setup" TargetMode="External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flounder-sphere-dab.ngrok-free.dev/headlamp" TargetMode="Externa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hyperlink" Target="https://miro.com/app/board/uXjVEcLUKSw=/" TargetMode="External"/><Relationship Id="rId3" Type="http://schemas.openxmlformats.org/officeDocument/2006/relationships/hyperlink" Target="https://github.com/ojas-kulkarni-emergys/sampling-kv-cache-lab" TargetMode="External"/><Relationship Id="rId7" Type="http://schemas.openxmlformats.org/officeDocument/2006/relationships/hyperlink" Target="https://flounder-sphere-dab.ngrok-free.dev/headlamp" TargetMode="External"/><Relationship Id="rId12" Type="http://schemas.openxmlformats.org/officeDocument/2006/relationships/hyperlink" Target="https://console.tailscale.com/admin/machines" TargetMode="External"/><Relationship Id="rId2" Type="http://schemas.openxmlformats.org/officeDocument/2006/relationships/hyperlink" Target="https://github.com/ojas-kulkarni-emergys/k8s-setup" TargetMode="Externa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flounder-sphere-dab.ngrok-free.dev/prometheus/query" TargetMode="External"/><Relationship Id="rId11" Type="http://schemas.openxmlformats.org/officeDocument/2006/relationships/hyperlink" Target="https://github.com/llm-d/llm-d/" TargetMode="External"/><Relationship Id="rId5" Type="http://schemas.openxmlformats.org/officeDocument/2006/relationships/hyperlink" Target="https://flounder-sphere-dab.ngrok-free.dev/grafana/d/vllm-overview/vllm-inference-overview" TargetMode="External"/><Relationship Id="rId10" Type="http://schemas.openxmlformats.org/officeDocument/2006/relationships/image" Target="../media/image12.jpeg"/><Relationship Id="rId4" Type="http://schemas.openxmlformats.org/officeDocument/2006/relationships/hyperlink" Target="https://flounder-sphere-dab.ngrok-free.dev/gradio" TargetMode="External"/><Relationship Id="rId9" Type="http://schemas.openxmlformats.org/officeDocument/2006/relationships/image" Target="../media/image11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09560" y="0"/>
            <a:ext cx="4279392" cy="6858000"/>
          </a:xfrm>
          <a:prstGeom prst="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8412480" y="1234440"/>
            <a:ext cx="2651760" cy="594360"/>
          </a:xfrm>
          <a:prstGeom prst="round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8412480" y="1234440"/>
            <a:ext cx="82296" cy="594360"/>
          </a:xfrm>
          <a:prstGeom prst="rect">
            <a:avLst/>
          </a:prstGeom>
          <a:solidFill>
            <a:srgbClr val="64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68512" y="1353312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PROMPT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9738360" y="1874519"/>
            <a:ext cx="0" cy="320041"/>
          </a:xfrm>
          <a:prstGeom prst="line">
            <a:avLst/>
          </a:prstGeom>
          <a:ln w="19050">
            <a:solidFill>
              <a:srgbClr val="AF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8412480" y="2286000"/>
            <a:ext cx="2651760" cy="594360"/>
          </a:xfrm>
          <a:prstGeom prst="round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412480" y="2286000"/>
            <a:ext cx="82296" cy="594360"/>
          </a:xfrm>
          <a:prstGeom prst="rect">
            <a:avLst/>
          </a:prstGeom>
          <a:solidFill>
            <a:srgbClr val="B5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68512" y="2404872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LOGITS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9738360" y="2926080"/>
            <a:ext cx="0" cy="320040"/>
          </a:xfrm>
          <a:prstGeom prst="line">
            <a:avLst/>
          </a:prstGeom>
          <a:ln w="19050">
            <a:solidFill>
              <a:srgbClr val="AF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8412480" y="3337560"/>
            <a:ext cx="2651760" cy="594360"/>
          </a:xfrm>
          <a:prstGeom prst="round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412480" y="3337560"/>
            <a:ext cx="82296" cy="594360"/>
          </a:xfrm>
          <a:prstGeom prst="rect">
            <a:avLst/>
          </a:prstGeom>
          <a:solidFill>
            <a:srgbClr val="36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8668512" y="3456432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TOKEN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738360" y="3977639"/>
            <a:ext cx="0" cy="320041"/>
          </a:xfrm>
          <a:prstGeom prst="line">
            <a:avLst/>
          </a:prstGeom>
          <a:ln w="19050">
            <a:solidFill>
              <a:srgbClr val="AFBED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412480" y="4389120"/>
            <a:ext cx="2651760" cy="594360"/>
          </a:xfrm>
          <a:prstGeom prst="round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412480" y="4389120"/>
            <a:ext cx="82296" cy="594360"/>
          </a:xfrm>
          <a:prstGeom prst="rect">
            <a:avLst/>
          </a:prstGeom>
          <a:solidFill>
            <a:srgbClr val="FFB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68512" y="4507992"/>
            <a:ext cx="201168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CACHE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" y="713232"/>
            <a:ext cx="6217920" cy="2431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100" b="1">
                <a:solidFill>
                  <a:srgbClr val="36D3C4"/>
                </a:solidFill>
                <a:latin typeface="Aptos"/>
              </a:defRPr>
            </a:pPr>
            <a:r>
              <a:t>KNOWLEDGE TRANSFER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" y="1417320"/>
            <a:ext cx="6675120" cy="597087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5F8FC"/>
                </a:solidFill>
                <a:latin typeface="Aptos"/>
              </a:defRPr>
            </a:pPr>
            <a:r>
              <a:t> LLM</a:t>
            </a:r>
            <a:r>
              <a:rPr lang="en-US"/>
              <a:t> Inference &amp; Sampling</a:t>
            </a:r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749808" y="3063240"/>
            <a:ext cx="6035040" cy="3970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2100" b="1">
                <a:solidFill>
                  <a:srgbClr val="64A6FF"/>
                </a:solidFill>
                <a:latin typeface="Aptos"/>
              </a:defRPr>
            </a:pPr>
            <a:r>
              <a:rPr lang="en-US" dirty="0"/>
              <a:t>KV-cache </a:t>
            </a:r>
            <a:r>
              <a:rPr lang="en-US" err="1"/>
              <a:t>Sampl</a:t>
            </a:r>
            <a:r>
              <a:rPr lang="en-US"/>
              <a:t>ing Lab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9808" y="3767328"/>
            <a:ext cx="6126480" cy="30469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AFBED0"/>
                </a:solidFill>
                <a:latin typeface="Aptos"/>
              </a:defRPr>
            </a:pPr>
            <a:r>
              <a:rPr dirty="0"/>
              <a:t>Sampling • attention • KV cache • </a:t>
            </a:r>
            <a:r>
              <a:rPr dirty="0" err="1"/>
              <a:t>FastAPI</a:t>
            </a:r>
            <a:r>
              <a:rPr dirty="0"/>
              <a:t> • </a:t>
            </a:r>
            <a:r>
              <a:rPr lang="en-US" dirty="0"/>
              <a:t>k8s</a:t>
            </a:r>
            <a:r>
              <a:rPr dirty="0"/>
              <a:t> • monitoring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49808" y="5074920"/>
            <a:ext cx="5394960" cy="658368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60120" y="5257800"/>
            <a:ext cx="50292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1">
                <a:solidFill>
                  <a:srgbClr val="F5F8FC"/>
                </a:solidFill>
                <a:latin typeface="Aptos"/>
              </a:defRPr>
            </a:pPr>
            <a:r>
              <a:t>CPU-first demo  | </a:t>
            </a:r>
            <a:r>
              <a:rPr lang="en-US"/>
              <a:t>Multi-Node | Local</a:t>
            </a:r>
            <a:r>
              <a:t> models  |  Observable behavior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6199632"/>
            <a:ext cx="548640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AFBED0"/>
                </a:solidFill>
                <a:latin typeface="Aptos"/>
              </a:defRPr>
            </a:pPr>
            <a:r>
              <a:t>Project</a:t>
            </a:r>
            <a:r>
              <a:rPr lang="en-US"/>
              <a:t>:</a:t>
            </a:r>
            <a:r>
              <a:rPr lang="en-US">
                <a:solidFill>
                  <a:srgbClr val="AFBED0"/>
                </a:solidFill>
              </a:rPr>
              <a:t> 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https://github.com/ojas-kulkarni-emergys/sampling-kv-cache-lab</a:t>
            </a:r>
            <a:endParaRPr lang="en-US">
              <a:solidFill>
                <a:schemeClr val="tx2">
                  <a:lumMod val="60000"/>
                  <a:lumOff val="40000"/>
                </a:schemeClr>
              </a:solidFill>
              <a:ea typeface="+mn-lt"/>
              <a:cs typeface="+mn-lt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E9AB0FC2-D0A6-686A-783C-20D26AE2556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226" b="3333"/>
          <a:stretch>
            <a:fillRect/>
          </a:stretch>
        </p:blipFill>
        <p:spPr>
          <a:xfrm>
            <a:off x="417195" y="6167437"/>
            <a:ext cx="334296" cy="303848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60D3A6F2-6750-8991-314A-ECA0060D192C}"/>
              </a:ext>
            </a:extLst>
          </p:cNvPr>
          <p:cNvSpPr txBox="1"/>
          <p:nvPr/>
        </p:nvSpPr>
        <p:spPr>
          <a:xfrm>
            <a:off x="713232" y="2037080"/>
            <a:ext cx="6675120" cy="381643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3400" b="1">
                <a:solidFill>
                  <a:srgbClr val="F5F8FC"/>
                </a:solidFill>
                <a:latin typeface="Aptos"/>
              </a:defRPr>
            </a:pPr>
            <a:r>
              <a:rPr lang="en-US" sz="2000">
                <a:solidFill>
                  <a:schemeClr val="bg1">
                    <a:lumMod val="85000"/>
                  </a:schemeClr>
                </a:solidFill>
              </a:rPr>
              <a:t>Reverse-KT</a:t>
            </a:r>
          </a:p>
        </p:txBody>
      </p:sp>
    </p:spTree>
    <p:extLst>
      <p:ext uri="{BB962C8B-B14F-4D97-AF65-F5344CB8AC3E}">
        <p14:creationId xmlns:p14="http://schemas.microsoft.com/office/powerpoint/2010/main" val="13736345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144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6D3C4"/>
                </a:solidFill>
                <a:latin typeface="Aptos"/>
              </a:defRPr>
            </a:pPr>
            <a:r>
              <a:t>01  /  LEARNING JOURNEY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893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rPr lang="en-US"/>
              <a:t>Learning Tracks Covered</a:t>
            </a:r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FBED0"/>
                </a:solidFill>
                <a:latin typeface="Aptos"/>
              </a:defRPr>
            </a:pPr>
            <a:r>
              <a:t>The KT connects course concepts to a concrete, inspectable serving system.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1828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AFBED0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783080"/>
            <a:ext cx="3520440" cy="2057400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94360" y="1783080"/>
            <a:ext cx="64008" cy="2057400"/>
          </a:xfrm>
          <a:prstGeom prst="rect">
            <a:avLst/>
          </a:prstGeom>
          <a:solidFill>
            <a:srgbClr val="64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795528" y="1938528"/>
            <a:ext cx="31546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Hugging Face LLM course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8" y="2350008"/>
            <a:ext cx="3136392" cy="8433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AFBED0"/>
                </a:solidFill>
                <a:latin typeface="Aptos"/>
              </a:defRPr>
            </a:pPr>
            <a:endParaRPr lang="en-US"/>
          </a:p>
          <a:p>
            <a:pPr algn="l">
              <a:spcAft>
                <a:spcPts val="600"/>
              </a:spcAft>
              <a:defRPr sz="1500" b="0">
                <a:solidFill>
                  <a:srgbClr val="AFBED0"/>
                </a:solidFill>
                <a:latin typeface="Aptos"/>
              </a:defRPr>
            </a:pPr>
            <a:r>
              <a:t>Transformers, generation, logits, decoding and cache behavior.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783080"/>
            <a:ext cx="3520440" cy="2057400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15968" y="1783080"/>
            <a:ext cx="64008" cy="2057400"/>
          </a:xfrm>
          <a:prstGeom prst="rect">
            <a:avLst/>
          </a:prstGeom>
          <a:solidFill>
            <a:srgbClr val="36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17136" y="1938528"/>
            <a:ext cx="31546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Kubernetes Crash Course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17136" y="2350008"/>
            <a:ext cx="3136392" cy="10741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AFBED0"/>
                </a:solidFill>
                <a:latin typeface="Aptos"/>
              </a:defRPr>
            </a:pPr>
            <a:endParaRPr lang="en-US"/>
          </a:p>
          <a:p>
            <a:pPr algn="l">
              <a:spcAft>
                <a:spcPts val="600"/>
              </a:spcAft>
              <a:defRPr sz="1500" b="0">
                <a:solidFill>
                  <a:srgbClr val="AFBED0"/>
                </a:solidFill>
                <a:latin typeface="Aptos"/>
              </a:defRPr>
            </a:pPr>
            <a:r>
              <a:t>Pods, Deployments, Services, persistent storage and operational commands.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37575" y="1783080"/>
            <a:ext cx="3520440" cy="2057400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37575" y="1783080"/>
            <a:ext cx="64008" cy="2057400"/>
          </a:xfrm>
          <a:prstGeom prst="rect">
            <a:avLst/>
          </a:prstGeom>
          <a:solidFill>
            <a:srgbClr val="B5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38744" y="1938528"/>
            <a:ext cx="31546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DeepLearning.AI MLOps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38744" y="2350008"/>
            <a:ext cx="3136392" cy="84330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AFBED0"/>
                </a:solidFill>
                <a:latin typeface="Aptos"/>
              </a:defRPr>
            </a:pPr>
            <a:endParaRPr lang="en-US"/>
          </a:p>
          <a:p>
            <a:pPr algn="l">
              <a:spcAft>
                <a:spcPts val="600"/>
              </a:spcAft>
              <a:defRPr sz="1500" b="0">
                <a:solidFill>
                  <a:srgbClr val="AFBED0"/>
                </a:solidFill>
                <a:latin typeface="Aptos"/>
              </a:defRPr>
            </a:pPr>
            <a:r>
              <a:t>Packaging, serving, metrics, monitoring and deployment thinking.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4251960"/>
            <a:ext cx="10963656" cy="1417320"/>
          </a:xfrm>
          <a:prstGeom prst="round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868680" y="4480560"/>
            <a:ext cx="21031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1">
                <a:solidFill>
                  <a:srgbClr val="36D3C4"/>
                </a:solidFill>
                <a:latin typeface="Aptos"/>
              </a:defRPr>
            </a:pPr>
            <a:r>
              <a:t>APPLIED IN THE LAB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4864608"/>
            <a:ext cx="10241280" cy="53035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900" b="1">
                <a:solidFill>
                  <a:srgbClr val="F5F8FC"/>
                </a:solidFill>
                <a:latin typeface="Aptos"/>
              </a:defRPr>
            </a:pPr>
            <a:r>
              <a:t>A local text-generation UI, a separate inference API, a Kubernetes deployment, and measurable generation/cache behavior.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5715000"/>
            <a:ext cx="100584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0">
                <a:solidFill>
                  <a:srgbClr val="AFBED0"/>
                </a:solidFill>
                <a:latin typeface="Aptos"/>
              </a:defRPr>
            </a:pPr>
            <a:r>
              <a:t>Learning resources are linked in the final handover slide.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B986EC-A225-EDA7-61ED-37C3DE93761C}"/>
              </a:ext>
            </a:extLst>
          </p:cNvPr>
          <p:cNvSpPr txBox="1"/>
          <p:nvPr/>
        </p:nvSpPr>
        <p:spPr>
          <a:xfrm>
            <a:off x="759968" y="6534912"/>
            <a:ext cx="548640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AFBED0"/>
                </a:solidFill>
                <a:latin typeface="Aptos"/>
              </a:defRPr>
            </a:pPr>
            <a:r>
              <a:t>Project</a:t>
            </a:r>
            <a:r>
              <a:rPr lang="en-US"/>
              <a:t>:</a:t>
            </a:r>
            <a:r>
              <a:rPr lang="en-US">
                <a:solidFill>
                  <a:srgbClr val="AFBED0"/>
                </a:solidFill>
              </a:rPr>
              <a:t> 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https://github.com/ojas-kulkarni-emergys/sampling-kv-cache-lab</a:t>
            </a:r>
            <a:endParaRPr lang="en-US">
              <a:solidFill>
                <a:schemeClr val="tx2">
                  <a:lumMod val="60000"/>
                  <a:lumOff val="40000"/>
                </a:schemeClr>
              </a:solidFill>
              <a:ea typeface="+mn-lt"/>
              <a:cs typeface="+mn-lt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27" name="Picture 26" descr="A black cat in a circle&#10;&#10;AI-generated content may be incorrect.">
            <a:extLst>
              <a:ext uri="{FF2B5EF4-FFF2-40B4-BE49-F238E27FC236}">
                <a16:creationId xmlns:a16="http://schemas.microsoft.com/office/drawing/2014/main" id="{E838A67D-81D9-2947-5255-368686822D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226" b="3333"/>
          <a:stretch>
            <a:fillRect/>
          </a:stretch>
        </p:blipFill>
        <p:spPr>
          <a:xfrm>
            <a:off x="600075" y="6563677"/>
            <a:ext cx="171736" cy="16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068585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2361993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rPr>
                <a:latin typeface="Aptos"/>
              </a:rPr>
              <a:t>KT</a:t>
            </a:r>
            <a:r>
              <a:t> </a:t>
            </a:r>
            <a:r>
              <a:rPr sz="2800" b="1">
                <a:solidFill>
                  <a:srgbClr val="0F2341"/>
                </a:solidFill>
                <a:latin typeface="Aptos"/>
              </a:rPr>
              <a:t>objectives</a:t>
            </a:r>
            <a:endParaRPr lang="en-US" sz="2800" b="1">
              <a:solidFill>
                <a:srgbClr val="0F2341"/>
              </a:solidFill>
              <a:latin typeface="Aptos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530352" y="1298448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2369AA"/>
                </a:solidFill>
              </a:defRPr>
            </a:pPr>
            <a:r>
              <a:t>What the implementation demonstrates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20147" y="3682621"/>
            <a:ext cx="10767174" cy="168507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342900" indent="-342900">
              <a:spcAft>
                <a:spcPts val="1100"/>
              </a:spcAft>
              <a:buFont typeface="Arial"/>
              <a:buChar char="•"/>
              <a:defRPr sz="1900">
                <a:solidFill>
                  <a:srgbClr val="232D3C"/>
                </a:solidFill>
              </a:defRPr>
            </a:pPr>
            <a:r>
              <a:t>Understand the path from logits to token selection.</a:t>
            </a:r>
            <a:endParaRPr lang="en-US">
              <a:ea typeface="Calibri"/>
              <a:cs typeface="Calibri"/>
            </a:endParaRPr>
          </a:p>
          <a:p>
            <a:pPr marL="342900" indent="-342900">
              <a:spcAft>
                <a:spcPts val="1100"/>
              </a:spcAft>
              <a:buFont typeface="Arial"/>
              <a:buChar char="•"/>
              <a:defRPr sz="1900">
                <a:solidFill>
                  <a:srgbClr val="232D3C"/>
                </a:solidFill>
              </a:defRPr>
            </a:pPr>
            <a:r>
              <a:t>Compare two decoding configurations under the same prompt and seed.</a:t>
            </a:r>
            <a:endParaRPr>
              <a:ea typeface="Calibri"/>
              <a:cs typeface="Calibri"/>
            </a:endParaRPr>
          </a:p>
          <a:p>
            <a:pPr marL="342900" indent="-342900">
              <a:spcAft>
                <a:spcPts val="1100"/>
              </a:spcAft>
              <a:buFont typeface="Arial"/>
              <a:buChar char="•"/>
              <a:defRPr sz="1900">
                <a:solidFill>
                  <a:srgbClr val="232D3C"/>
                </a:solidFill>
              </a:defRPr>
            </a:pPr>
            <a:r>
              <a:t>Inspect measured K/V cache tensors and optional attention matrices.</a:t>
            </a:r>
            <a:endParaRPr>
              <a:ea typeface="Calibri"/>
              <a:cs typeface="Calibri"/>
            </a:endParaRPr>
          </a:p>
          <a:p>
            <a:pPr marL="342900" indent="-342900">
              <a:spcAft>
                <a:spcPts val="1100"/>
              </a:spcAft>
              <a:buFont typeface="Arial"/>
              <a:buChar char="•"/>
              <a:defRPr sz="1900">
                <a:solidFill>
                  <a:srgbClr val="232D3C"/>
                </a:solidFill>
              </a:defRPr>
            </a:pPr>
            <a:r>
              <a:t>Operate the UI and inference service as separate Kubernetes workloads.</a:t>
            </a:r>
            <a:endParaRPr>
              <a:ea typeface="Calibri"/>
              <a:cs typeface="Calibri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80470A-8D64-63B0-16D9-CBAFE6C23250}"/>
              </a:ext>
            </a:extLst>
          </p:cNvPr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7D79A7-AC2C-A779-40E0-2690DE8BAF84}"/>
              </a:ext>
            </a:extLst>
          </p:cNvPr>
          <p:cNvSpPr txBox="1"/>
          <p:nvPr/>
        </p:nvSpPr>
        <p:spPr>
          <a:xfrm>
            <a:off x="11109960" y="6492240"/>
            <a:ext cx="41148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AFBED0"/>
                </a:solidFill>
                <a:latin typeface="Aptos"/>
              </a:defRPr>
            </a:pPr>
            <a:r>
              <a:rPr lang="en-US"/>
              <a:t>03</a:t>
            </a:r>
            <a:endParaRPr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C4545C5-7BFE-E81F-2D74-806984021A42}"/>
              </a:ext>
            </a:extLst>
          </p:cNvPr>
          <p:cNvSpPr txBox="1"/>
          <p:nvPr/>
        </p:nvSpPr>
        <p:spPr>
          <a:xfrm>
            <a:off x="759968" y="6534912"/>
            <a:ext cx="548640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AFBED0"/>
                </a:solidFill>
                <a:latin typeface="Aptos"/>
              </a:defRPr>
            </a:pPr>
            <a:r>
              <a:t>Project</a:t>
            </a:r>
            <a:r>
              <a:rPr lang="en-US"/>
              <a:t>:</a:t>
            </a:r>
            <a:r>
              <a:rPr lang="en-US">
                <a:solidFill>
                  <a:srgbClr val="AFBED0"/>
                </a:solidFill>
              </a:rPr>
              <a:t> 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https://github.com/ojas-kulkarni-emergys/sampling-kv-cache-lab</a:t>
            </a:r>
            <a:endParaRPr lang="en-US">
              <a:solidFill>
                <a:schemeClr val="tx2">
                  <a:lumMod val="60000"/>
                  <a:lumOff val="40000"/>
                </a:schemeClr>
              </a:solidFill>
              <a:ea typeface="+mn-lt"/>
              <a:cs typeface="+mn-lt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14" name="Picture 13" descr="A black cat in a circle&#10;&#10;AI-generated content may be incorrect.">
            <a:extLst>
              <a:ext uri="{FF2B5EF4-FFF2-40B4-BE49-F238E27FC236}">
                <a16:creationId xmlns:a16="http://schemas.microsoft.com/office/drawing/2014/main" id="{F19773E3-DC35-22DE-713E-2FE9712C742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226" b="3333"/>
          <a:stretch>
            <a:fillRect/>
          </a:stretch>
        </p:blipFill>
        <p:spPr>
          <a:xfrm>
            <a:off x="600075" y="6563677"/>
            <a:ext cx="171736" cy="164656"/>
          </a:xfrm>
          <a:prstGeom prst="rect">
            <a:avLst/>
          </a:prstGeom>
        </p:spPr>
      </p:pic>
      <p:sp>
        <p:nvSpPr>
          <p:cNvPr id="15" name="Rounded Rectangle 7">
            <a:extLst>
              <a:ext uri="{FF2B5EF4-FFF2-40B4-BE49-F238E27FC236}">
                <a16:creationId xmlns:a16="http://schemas.microsoft.com/office/drawing/2014/main" id="{3A16628F-A322-4017-892D-4C61F01E1060}"/>
              </a:ext>
            </a:extLst>
          </p:cNvPr>
          <p:cNvSpPr/>
          <p:nvPr/>
        </p:nvSpPr>
        <p:spPr>
          <a:xfrm>
            <a:off x="594360" y="1737360"/>
            <a:ext cx="3520440" cy="1554480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8EADE0E-AD1E-F1BB-1064-BE70C90D5330}"/>
              </a:ext>
            </a:extLst>
          </p:cNvPr>
          <p:cNvSpPr/>
          <p:nvPr/>
        </p:nvSpPr>
        <p:spPr>
          <a:xfrm>
            <a:off x="594360" y="1737360"/>
            <a:ext cx="64008" cy="1554480"/>
          </a:xfrm>
          <a:prstGeom prst="rect">
            <a:avLst/>
          </a:prstGeom>
          <a:solidFill>
            <a:srgbClr val="64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17" name="TextBox 9">
            <a:extLst>
              <a:ext uri="{FF2B5EF4-FFF2-40B4-BE49-F238E27FC236}">
                <a16:creationId xmlns:a16="http://schemas.microsoft.com/office/drawing/2014/main" id="{7592DF21-EC40-0D4E-B52A-B0B1AD0E6247}"/>
              </a:ext>
            </a:extLst>
          </p:cNvPr>
          <p:cNvSpPr txBox="1"/>
          <p:nvPr/>
        </p:nvSpPr>
        <p:spPr>
          <a:xfrm>
            <a:off x="795528" y="1892807"/>
            <a:ext cx="31546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LLM behavior</a:t>
            </a:r>
          </a:p>
        </p:txBody>
      </p:sp>
      <p:sp>
        <p:nvSpPr>
          <p:cNvPr id="18" name="TextBox 10">
            <a:extLst>
              <a:ext uri="{FF2B5EF4-FFF2-40B4-BE49-F238E27FC236}">
                <a16:creationId xmlns:a16="http://schemas.microsoft.com/office/drawing/2014/main" id="{A070B589-5822-AF23-321F-C44C10922589}"/>
              </a:ext>
            </a:extLst>
          </p:cNvPr>
          <p:cNvSpPr txBox="1"/>
          <p:nvPr/>
        </p:nvSpPr>
        <p:spPr>
          <a:xfrm>
            <a:off x="795528" y="2304288"/>
            <a:ext cx="3136392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  <a:defRPr sz="1400" b="0">
                <a:solidFill>
                  <a:srgbClr val="AFBED0"/>
                </a:solidFill>
                <a:latin typeface="Aptos"/>
              </a:defRPr>
            </a:pPr>
            <a:r>
              <a:t>Control token selection and inspect how generation changes with decoding settings.</a:t>
            </a:r>
          </a:p>
        </p:txBody>
      </p:sp>
      <p:sp>
        <p:nvSpPr>
          <p:cNvPr id="19" name="Rounded Rectangle 11">
            <a:extLst>
              <a:ext uri="{FF2B5EF4-FFF2-40B4-BE49-F238E27FC236}">
                <a16:creationId xmlns:a16="http://schemas.microsoft.com/office/drawing/2014/main" id="{38E06757-A273-55D1-E22E-D43177A828C2}"/>
              </a:ext>
            </a:extLst>
          </p:cNvPr>
          <p:cNvSpPr/>
          <p:nvPr/>
        </p:nvSpPr>
        <p:spPr>
          <a:xfrm>
            <a:off x="4315968" y="1737360"/>
            <a:ext cx="3520440" cy="1554480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F887C1E-8B06-FBA4-9E0B-03EB04D295FE}"/>
              </a:ext>
            </a:extLst>
          </p:cNvPr>
          <p:cNvSpPr/>
          <p:nvPr/>
        </p:nvSpPr>
        <p:spPr>
          <a:xfrm>
            <a:off x="4315968" y="1737360"/>
            <a:ext cx="64008" cy="1554480"/>
          </a:xfrm>
          <a:prstGeom prst="rect">
            <a:avLst/>
          </a:prstGeom>
          <a:solidFill>
            <a:srgbClr val="36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1" name="TextBox 13">
            <a:extLst>
              <a:ext uri="{FF2B5EF4-FFF2-40B4-BE49-F238E27FC236}">
                <a16:creationId xmlns:a16="http://schemas.microsoft.com/office/drawing/2014/main" id="{8A8D344C-76B7-D13A-47B4-166D8FAE4F7D}"/>
              </a:ext>
            </a:extLst>
          </p:cNvPr>
          <p:cNvSpPr txBox="1"/>
          <p:nvPr/>
        </p:nvSpPr>
        <p:spPr>
          <a:xfrm>
            <a:off x="4517136" y="1892807"/>
            <a:ext cx="31546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Inference engineering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B7C0A65D-5E89-86E7-1A39-0639DB80BC93}"/>
              </a:ext>
            </a:extLst>
          </p:cNvPr>
          <p:cNvSpPr txBox="1"/>
          <p:nvPr/>
        </p:nvSpPr>
        <p:spPr>
          <a:xfrm>
            <a:off x="4517136" y="2304288"/>
            <a:ext cx="3136392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  <a:defRPr sz="1400" b="0">
                <a:solidFill>
                  <a:srgbClr val="AFBED0"/>
                </a:solidFill>
                <a:latin typeface="Aptos"/>
              </a:defRPr>
            </a:pPr>
            <a:r>
              <a:t>Separate the user interface from model execution behind a versionable API.</a:t>
            </a:r>
          </a:p>
        </p:txBody>
      </p:sp>
      <p:sp>
        <p:nvSpPr>
          <p:cNvPr id="23" name="Rounded Rectangle 15">
            <a:extLst>
              <a:ext uri="{FF2B5EF4-FFF2-40B4-BE49-F238E27FC236}">
                <a16:creationId xmlns:a16="http://schemas.microsoft.com/office/drawing/2014/main" id="{A472B04E-22FF-F0DE-59D2-A1A2BA48D373}"/>
              </a:ext>
            </a:extLst>
          </p:cNvPr>
          <p:cNvSpPr/>
          <p:nvPr/>
        </p:nvSpPr>
        <p:spPr>
          <a:xfrm>
            <a:off x="8037575" y="1737360"/>
            <a:ext cx="3520440" cy="1554480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65C5D9A-AB9E-990A-E7E0-6DC712B13A82}"/>
              </a:ext>
            </a:extLst>
          </p:cNvPr>
          <p:cNvSpPr/>
          <p:nvPr/>
        </p:nvSpPr>
        <p:spPr>
          <a:xfrm>
            <a:off x="8037575" y="1737360"/>
            <a:ext cx="64008" cy="1554480"/>
          </a:xfrm>
          <a:prstGeom prst="rect">
            <a:avLst/>
          </a:prstGeom>
          <a:solidFill>
            <a:srgbClr val="B5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44E2E044-949B-9094-4666-66D1E5F1AA60}"/>
              </a:ext>
            </a:extLst>
          </p:cNvPr>
          <p:cNvSpPr txBox="1"/>
          <p:nvPr/>
        </p:nvSpPr>
        <p:spPr>
          <a:xfrm>
            <a:off x="8238744" y="1892807"/>
            <a:ext cx="315468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MLOps &amp; operations</a:t>
            </a:r>
          </a:p>
        </p:txBody>
      </p:sp>
      <p:sp>
        <p:nvSpPr>
          <p:cNvPr id="26" name="TextBox 18">
            <a:extLst>
              <a:ext uri="{FF2B5EF4-FFF2-40B4-BE49-F238E27FC236}">
                <a16:creationId xmlns:a16="http://schemas.microsoft.com/office/drawing/2014/main" id="{3EDDF928-A16D-264B-DA14-C0A70D50D58B}"/>
              </a:ext>
            </a:extLst>
          </p:cNvPr>
          <p:cNvSpPr txBox="1"/>
          <p:nvPr/>
        </p:nvSpPr>
        <p:spPr>
          <a:xfrm>
            <a:off x="8238744" y="2304288"/>
            <a:ext cx="3136392" cy="8686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spcAft>
                <a:spcPts val="600"/>
              </a:spcAft>
              <a:defRPr sz="1400" b="0">
                <a:solidFill>
                  <a:srgbClr val="AFBED0"/>
                </a:solidFill>
                <a:latin typeface="Aptos"/>
              </a:defRPr>
            </a:pPr>
            <a:r>
              <a:t>Containerize components, deploy repeatably, expose metrics and inspect logs.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9792F13-7ADA-508A-8F63-8FD1E73CC282}"/>
              </a:ext>
            </a:extLst>
          </p:cNvPr>
          <p:cNvSpPr txBox="1"/>
          <p:nvPr/>
        </p:nvSpPr>
        <p:spPr>
          <a:xfrm>
            <a:off x="566928" y="265403"/>
            <a:ext cx="9144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6D3C4"/>
                </a:solidFill>
                <a:latin typeface="Aptos"/>
              </a:defRPr>
            </a:pPr>
            <a:r>
              <a:t>02  /  WHY THIS MATTERS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144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6D3C4"/>
                </a:solidFill>
                <a:latin typeface="Aptos"/>
              </a:defRPr>
            </a:pPr>
            <a:r>
              <a:t>02  /  WHY THIS MATTERS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893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rPr lang="en-US"/>
              <a:t>Transferrable KPIs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FBED0"/>
                </a:solidFill>
                <a:latin typeface="Aptos"/>
              </a:defRPr>
            </a:pPr>
            <a:r>
              <a:t>A small lab makes model-serving trade-offs visible before scaling to production.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AFBED0"/>
                </a:solidFill>
                <a:latin typeface="Aptos"/>
              </a:defRPr>
            </a:pPr>
            <a:r>
              <a:rPr lang="en-US"/>
              <a:t>04</a:t>
            </a:r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964071" y="1972192"/>
            <a:ext cx="5606409" cy="3428374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85750" indent="-285750">
              <a:lnSpc>
                <a:spcPct val="150000"/>
              </a:lnSpc>
              <a:spcAft>
                <a:spcPts val="600"/>
              </a:spcAft>
              <a:buFont typeface="Arial"/>
              <a:buChar char="•"/>
              <a:defRPr sz="1400" b="0">
                <a:solidFill>
                  <a:srgbClr val="F5F8FC"/>
                </a:solidFill>
                <a:latin typeface="Aptos"/>
              </a:defRPr>
            </a:pPr>
            <a:r>
              <a:t>Serving boundary: Teams-facing experience can call a backend API instead of embedding model execution in the UI.</a:t>
            </a:r>
            <a:endParaRPr lang="en-US">
              <a:solidFill>
                <a:srgbClr val="000000"/>
              </a:solidFill>
            </a:endParaRPr>
          </a:p>
          <a:p>
            <a:pPr marL="285750" indent="-285750" algn="l">
              <a:lnSpc>
                <a:spcPct val="150000"/>
              </a:lnSpc>
              <a:spcAft>
                <a:spcPts val="600"/>
              </a:spcAft>
              <a:buFont typeface="Arial"/>
              <a:buChar char="•"/>
              <a:defRPr sz="1400" b="0">
                <a:solidFill>
                  <a:srgbClr val="F5F8FC"/>
                </a:solidFill>
                <a:latin typeface="Aptos"/>
              </a:defRPr>
            </a:pPr>
            <a:r>
              <a:rPr lang="en-US"/>
              <a:t>Reliability: health checks, request validation, bounded generation and clear error paths.</a:t>
            </a:r>
            <a:endParaRPr lang="en-US">
              <a:solidFill>
                <a:srgbClr val="000000"/>
              </a:solidFill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defRPr sz="1400" b="0">
                <a:solidFill>
                  <a:srgbClr val="F5F8FC"/>
                </a:solidFill>
                <a:latin typeface="Aptos"/>
              </a:defRPr>
            </a:pPr>
            <a:r>
              <a:rPr lang="en-US"/>
              <a:t>Operational visibility: latency, request counts, generated-token counts and cache payload metrics.</a:t>
            </a:r>
            <a:endParaRPr lang="en-US">
              <a:solidFill>
                <a:srgbClr val="000000"/>
              </a:solidFill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defRPr sz="1400" b="0">
                <a:solidFill>
                  <a:srgbClr val="F5F8FC"/>
                </a:solidFill>
                <a:latin typeface="Aptos"/>
              </a:defRPr>
            </a:pPr>
            <a:r>
              <a:rPr lang="en-US"/>
              <a:t>Scale deliberately: measure CPU/RAM and concurrency before increasing replicas or enabling autoscaling.</a:t>
            </a:r>
            <a:endParaRPr lang="en-US">
              <a:solidFill>
                <a:srgbClr val="000000"/>
              </a:solidFill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defRPr sz="1400" b="0">
                <a:solidFill>
                  <a:srgbClr val="F5F8FC"/>
                </a:solidFill>
                <a:latin typeface="Aptos"/>
              </a:defRPr>
            </a:pPr>
            <a:r>
              <a:rPr lang="en-US" dirty="0"/>
              <a:t>Scaling Deployments: </a:t>
            </a:r>
            <a:r>
              <a:rPr lang="en-US" dirty="0" err="1"/>
              <a:t>llm</a:t>
            </a:r>
            <a:r>
              <a:rPr lang="en-US" dirty="0"/>
              <a:t>-d with router &amp; gateway</a:t>
            </a:r>
            <a:endParaRPr lang="en-US" dirty="0">
              <a:solidFill>
                <a:srgbClr val="000000"/>
              </a:solidFill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  <a:defRPr sz="1400" b="0">
                <a:solidFill>
                  <a:srgbClr val="F5F8FC"/>
                </a:solidFill>
                <a:latin typeface="Aptos"/>
              </a:defRPr>
            </a:pPr>
            <a:r>
              <a:rPr lang="en-US" dirty="0" err="1"/>
              <a:t>IaC</a:t>
            </a:r>
            <a:r>
              <a:rPr lang="en-US" dirty="0"/>
              <a:t>: Using terraform to setup infrastructure locally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7D0A5DC-A8B4-3A77-3282-640145A0B03E}"/>
              </a:ext>
            </a:extLst>
          </p:cNvPr>
          <p:cNvSpPr txBox="1"/>
          <p:nvPr/>
        </p:nvSpPr>
        <p:spPr>
          <a:xfrm>
            <a:off x="759968" y="6534912"/>
            <a:ext cx="548640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AFBED0"/>
                </a:solidFill>
                <a:latin typeface="Aptos"/>
              </a:defRPr>
            </a:pPr>
            <a:r>
              <a:t>Project</a:t>
            </a:r>
            <a:r>
              <a:rPr lang="en-US"/>
              <a:t>:</a:t>
            </a:r>
            <a:r>
              <a:rPr lang="en-US">
                <a:solidFill>
                  <a:srgbClr val="AFBED0"/>
                </a:solidFill>
              </a:rPr>
              <a:t> 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https://github.com/ojas-kulkarni-emergys/sampling-kv-cache-lab</a:t>
            </a:r>
            <a:endParaRPr lang="en-US">
              <a:solidFill>
                <a:schemeClr val="tx2">
                  <a:lumMod val="60000"/>
                  <a:lumOff val="40000"/>
                </a:schemeClr>
              </a:solidFill>
              <a:ea typeface="+mn-lt"/>
              <a:cs typeface="+mn-lt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32" name="Picture 31" descr="A black cat in a circle&#10;&#10;AI-generated content may be incorrect.">
            <a:extLst>
              <a:ext uri="{FF2B5EF4-FFF2-40B4-BE49-F238E27FC236}">
                <a16:creationId xmlns:a16="http://schemas.microsoft.com/office/drawing/2014/main" id="{1B00D020-AB0B-165F-2A75-52DFF81D60F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226" b="3333"/>
          <a:stretch>
            <a:fillRect/>
          </a:stretch>
        </p:blipFill>
        <p:spPr>
          <a:xfrm>
            <a:off x="600075" y="6563677"/>
            <a:ext cx="171736" cy="164656"/>
          </a:xfrm>
          <a:prstGeom prst="rect">
            <a:avLst/>
          </a:prstGeom>
        </p:spPr>
      </p:pic>
      <p:pic>
        <p:nvPicPr>
          <p:cNvPr id="41" name="Picture 40" descr="NVIDIA Introduces NIM Agent Blueprints, Gives Enterprise The Ability To ...">
            <a:extLst>
              <a:ext uri="{FF2B5EF4-FFF2-40B4-BE49-F238E27FC236}">
                <a16:creationId xmlns:a16="http://schemas.microsoft.com/office/drawing/2014/main" id="{922827CB-2CAE-0B54-4068-E78BAA4AE6F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341" y="2270788"/>
            <a:ext cx="5051944" cy="28395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6659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144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6D3C4"/>
                </a:solidFill>
                <a:latin typeface="Aptos"/>
              </a:defRPr>
            </a:pPr>
            <a:r>
              <a:t>03  / 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893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rPr lang="en-US"/>
              <a:t>Service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FBED0"/>
                </a:solidFill>
                <a:latin typeface="Aptos"/>
              </a:defRPr>
            </a:pPr>
            <a:r>
              <a:t>The UI and inference API can be run locally in-process or separated using INFERENCE_URL.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AFBED0"/>
                </a:solidFill>
                <a:latin typeface="Aptos"/>
              </a:defRPr>
            </a:pPr>
            <a:r>
              <a:rPr lang="en-US"/>
              <a:t>05</a:t>
            </a:r>
            <a:endParaRPr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2C667D3A-4F7E-3618-86B5-E8D85B2CD16E}"/>
              </a:ext>
            </a:extLst>
          </p:cNvPr>
          <p:cNvGrpSpPr/>
          <p:nvPr/>
        </p:nvGrpSpPr>
        <p:grpSpPr>
          <a:xfrm>
            <a:off x="8896065" y="1920240"/>
            <a:ext cx="2743200" cy="1143000"/>
            <a:chOff x="8896065" y="1920240"/>
            <a:chExt cx="2743200" cy="1143000"/>
          </a:xfrm>
        </p:grpSpPr>
        <p:sp>
          <p:nvSpPr>
            <p:cNvPr id="14" name="Rounded Rectangle 13"/>
            <p:cNvSpPr/>
            <p:nvPr/>
          </p:nvSpPr>
          <p:spPr>
            <a:xfrm>
              <a:off x="8896065" y="1920240"/>
              <a:ext cx="2743200" cy="1143000"/>
            </a:xfrm>
            <a:prstGeom prst="roundRect">
              <a:avLst/>
            </a:prstGeom>
            <a:solidFill>
              <a:srgbClr val="182A4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124665" y="2112264"/>
              <a:ext cx="2286000" cy="292608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ctr">
                <a:spcAft>
                  <a:spcPts val="600"/>
                </a:spcAft>
                <a:defRPr sz="1700" b="1">
                  <a:solidFill>
                    <a:srgbClr val="F5F8FC"/>
                  </a:solidFill>
                  <a:latin typeface="Aptos"/>
                </a:defRPr>
              </a:pPr>
              <a:r>
                <a:rPr dirty="0" err="1"/>
                <a:t>FastAPI</a:t>
              </a:r>
              <a:r>
                <a:rPr dirty="0"/>
                <a:t> inference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9124665" y="2514600"/>
              <a:ext cx="2286000" cy="256032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ctr">
                <a:spcAft>
                  <a:spcPts val="600"/>
                </a:spcAft>
                <a:defRPr sz="1100" b="0">
                  <a:solidFill>
                    <a:srgbClr val="AFBED0"/>
                  </a:solidFill>
                  <a:latin typeface="Aptos"/>
                </a:defRPr>
              </a:pPr>
              <a:r>
                <a:t>/compare :8000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FC1789B7-D573-6594-E7A5-4E93B111F8DE}"/>
              </a:ext>
            </a:extLst>
          </p:cNvPr>
          <p:cNvGrpSpPr/>
          <p:nvPr/>
        </p:nvGrpSpPr>
        <p:grpSpPr>
          <a:xfrm>
            <a:off x="640080" y="1920240"/>
            <a:ext cx="2240280" cy="1143000"/>
            <a:chOff x="640080" y="1920240"/>
            <a:chExt cx="2240280" cy="1143000"/>
          </a:xfrm>
        </p:grpSpPr>
        <p:sp>
          <p:nvSpPr>
            <p:cNvPr id="8" name="Rounded Rectangle 7"/>
            <p:cNvSpPr/>
            <p:nvPr/>
          </p:nvSpPr>
          <p:spPr>
            <a:xfrm>
              <a:off x="640080" y="1920240"/>
              <a:ext cx="2240280" cy="1143000"/>
            </a:xfrm>
            <a:prstGeom prst="roundRect">
              <a:avLst/>
            </a:prstGeom>
            <a:solidFill>
              <a:srgbClr val="1F354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822960" y="2121408"/>
              <a:ext cx="1874519" cy="335476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ctr">
                <a:spcAft>
                  <a:spcPts val="600"/>
                </a:spcAft>
                <a:defRPr sz="1700" b="1">
                  <a:solidFill>
                    <a:srgbClr val="F5F8FC"/>
                  </a:solidFill>
                  <a:latin typeface="Aptos"/>
                </a:defRPr>
              </a:pPr>
              <a:r>
                <a:t>Browser</a:t>
              </a:r>
              <a:endParaRPr lang="en-US">
                <a:solidFill>
                  <a:srgbClr val="F5F8FC"/>
                </a:solidFill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822960" y="2523744"/>
              <a:ext cx="1874519" cy="243143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ctr">
                <a:spcAft>
                  <a:spcPts val="600"/>
                </a:spcAft>
                <a:defRPr sz="1100" b="0">
                  <a:solidFill>
                    <a:srgbClr val="AFBED0"/>
                  </a:solidFill>
                  <a:latin typeface="Aptos"/>
                </a:defRPr>
              </a:pPr>
              <a:r>
                <a:rPr lang="en-US" dirty="0" err="1"/>
                <a:t>Ngrok:tunnel</a:t>
              </a:r>
              <a:r>
                <a:rPr lang="en-US" dirty="0"/>
                <a:t> (port 80)</a:t>
              </a:r>
            </a:p>
          </p:txBody>
        </p:sp>
      </p:grpSp>
      <p:cxnSp>
        <p:nvCxnSpPr>
          <p:cNvPr id="17" name="Connector 16"/>
          <p:cNvCxnSpPr/>
          <p:nvPr/>
        </p:nvCxnSpPr>
        <p:spPr>
          <a:xfrm>
            <a:off x="2880359" y="2521287"/>
            <a:ext cx="458793" cy="0"/>
          </a:xfrm>
          <a:prstGeom prst="line">
            <a:avLst/>
          </a:prstGeom>
          <a:ln w="25400">
            <a:solidFill>
              <a:srgbClr val="64A6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>
            <a:off x="8471165" y="2521287"/>
            <a:ext cx="424672" cy="11373"/>
          </a:xfrm>
          <a:prstGeom prst="line">
            <a:avLst/>
          </a:prstGeom>
          <a:ln w="25400">
            <a:solidFill>
              <a:srgbClr val="36D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8" name="Group 47">
            <a:extLst>
              <a:ext uri="{FF2B5EF4-FFF2-40B4-BE49-F238E27FC236}">
                <a16:creationId xmlns:a16="http://schemas.microsoft.com/office/drawing/2014/main" id="{E8C3BC0B-D53D-C67F-EAD6-1F63D24D7AD3}"/>
              </a:ext>
            </a:extLst>
          </p:cNvPr>
          <p:cNvGrpSpPr/>
          <p:nvPr/>
        </p:nvGrpSpPr>
        <p:grpSpPr>
          <a:xfrm>
            <a:off x="8896065" y="3828879"/>
            <a:ext cx="2743200" cy="1005840"/>
            <a:chOff x="8896065" y="3794760"/>
            <a:chExt cx="2743200" cy="1005840"/>
          </a:xfrm>
        </p:grpSpPr>
        <p:sp>
          <p:nvSpPr>
            <p:cNvPr id="19" name="Rounded Rectangle 18"/>
            <p:cNvSpPr/>
            <p:nvPr/>
          </p:nvSpPr>
          <p:spPr>
            <a:xfrm>
              <a:off x="8896065" y="3794760"/>
              <a:ext cx="2743200" cy="1005840"/>
            </a:xfrm>
            <a:prstGeom prst="roundRect">
              <a:avLst/>
            </a:prstGeom>
            <a:solidFill>
              <a:srgbClr val="1F354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9097233" y="3948206"/>
              <a:ext cx="2331720" cy="504754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ctr">
                <a:spcAft>
                  <a:spcPts val="600"/>
                </a:spcAft>
                <a:defRPr sz="1400" b="1">
                  <a:solidFill>
                    <a:srgbClr val="F5F8FC"/>
                  </a:solidFill>
                  <a:latin typeface="Aptos"/>
                </a:defRPr>
              </a:pPr>
              <a:r>
                <a:rPr dirty="0"/>
                <a:t>Local Transformers model</a:t>
              </a:r>
              <a:r>
                <a:rPr lang="en-US" dirty="0"/>
                <a:t> / </a:t>
              </a:r>
              <a:r>
                <a:rPr lang="en-US" dirty="0" err="1"/>
                <a:t>vllm</a:t>
              </a:r>
              <a:r>
                <a:rPr lang="en-US" dirty="0"/>
                <a:t> (via </a:t>
              </a:r>
              <a:r>
                <a:rPr lang="en-US" dirty="0" err="1"/>
                <a:t>llm</a:t>
              </a:r>
              <a:r>
                <a:rPr lang="en-US" dirty="0"/>
                <a:t>-d)</a:t>
              </a:r>
              <a:endParaRPr dirty="0"/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9097233" y="4473190"/>
              <a:ext cx="2331720" cy="228600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ctr">
                <a:spcAft>
                  <a:spcPts val="600"/>
                </a:spcAft>
                <a:defRPr sz="1000" b="0">
                  <a:solidFill>
                    <a:srgbClr val="AFBED0"/>
                  </a:solidFill>
                  <a:latin typeface="Aptos"/>
                </a:defRPr>
              </a:pPr>
              <a:r>
                <a:t>CPU • one model cached</a:t>
              </a:r>
            </a:p>
          </p:txBody>
        </p:sp>
      </p:grpSp>
      <p:cxnSp>
        <p:nvCxnSpPr>
          <p:cNvPr id="22" name="Connector 21"/>
          <p:cNvCxnSpPr/>
          <p:nvPr/>
        </p:nvCxnSpPr>
        <p:spPr>
          <a:xfrm>
            <a:off x="10267665" y="3108960"/>
            <a:ext cx="0" cy="640079"/>
          </a:xfrm>
          <a:prstGeom prst="line">
            <a:avLst/>
          </a:prstGeom>
          <a:ln w="25400">
            <a:solidFill>
              <a:srgbClr val="36D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92FC1B47-5555-3244-936E-2DD70D3A92F0}"/>
              </a:ext>
            </a:extLst>
          </p:cNvPr>
          <p:cNvGrpSpPr/>
          <p:nvPr/>
        </p:nvGrpSpPr>
        <p:grpSpPr>
          <a:xfrm>
            <a:off x="4431200" y="3828879"/>
            <a:ext cx="2743200" cy="1005840"/>
            <a:chOff x="4431200" y="3828879"/>
            <a:chExt cx="2743200" cy="1005840"/>
          </a:xfrm>
        </p:grpSpPr>
        <p:sp>
          <p:nvSpPr>
            <p:cNvPr id="23" name="Rounded Rectangle 22"/>
            <p:cNvSpPr/>
            <p:nvPr/>
          </p:nvSpPr>
          <p:spPr>
            <a:xfrm>
              <a:off x="4431200" y="3828879"/>
              <a:ext cx="2743200" cy="1005840"/>
            </a:xfrm>
            <a:prstGeom prst="roundRect">
              <a:avLst/>
            </a:prstGeom>
            <a:solidFill>
              <a:srgbClr val="1F354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4641512" y="4039191"/>
              <a:ext cx="2331720" cy="274320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ctr">
                <a:spcAft>
                  <a:spcPts val="600"/>
                </a:spcAft>
                <a:defRPr sz="1400" b="1">
                  <a:solidFill>
                    <a:srgbClr val="F5F8FC"/>
                  </a:solidFill>
                  <a:latin typeface="Aptos"/>
                </a:defRPr>
              </a:pPr>
              <a:r>
                <a:t>Prometheus metrics</a:t>
              </a:r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4641512" y="4404951"/>
              <a:ext cx="2331720" cy="228600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ctr">
                <a:spcAft>
                  <a:spcPts val="600"/>
                </a:spcAft>
                <a:defRPr sz="1000" b="0">
                  <a:solidFill>
                    <a:srgbClr val="AFBED0"/>
                  </a:solidFill>
                  <a:latin typeface="Aptos"/>
                </a:defRPr>
              </a:pPr>
              <a:r>
                <a:t>Grafana dashboard</a:t>
              </a:r>
            </a:p>
          </p:txBody>
        </p:sp>
      </p:grpSp>
      <p:cxnSp>
        <p:nvCxnSpPr>
          <p:cNvPr id="26" name="Connector 25"/>
          <p:cNvCxnSpPr/>
          <p:nvPr/>
        </p:nvCxnSpPr>
        <p:spPr>
          <a:xfrm flipH="1">
            <a:off x="7186001" y="4297680"/>
            <a:ext cx="1698691" cy="0"/>
          </a:xfrm>
          <a:prstGeom prst="line">
            <a:avLst/>
          </a:prstGeom>
          <a:ln w="25400">
            <a:solidFill>
              <a:srgbClr val="B591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50" name="Group 49">
            <a:extLst>
              <a:ext uri="{FF2B5EF4-FFF2-40B4-BE49-F238E27FC236}">
                <a16:creationId xmlns:a16="http://schemas.microsoft.com/office/drawing/2014/main" id="{D3FA540D-CE2A-6717-FF52-6741AA573EB8}"/>
              </a:ext>
            </a:extLst>
          </p:cNvPr>
          <p:cNvGrpSpPr/>
          <p:nvPr/>
        </p:nvGrpSpPr>
        <p:grpSpPr>
          <a:xfrm>
            <a:off x="640080" y="3794760"/>
            <a:ext cx="2240280" cy="1005840"/>
            <a:chOff x="640080" y="3794760"/>
            <a:chExt cx="2240280" cy="1005840"/>
          </a:xfrm>
        </p:grpSpPr>
        <p:sp>
          <p:nvSpPr>
            <p:cNvPr id="27" name="Rounded Rectangle 26"/>
            <p:cNvSpPr/>
            <p:nvPr/>
          </p:nvSpPr>
          <p:spPr>
            <a:xfrm>
              <a:off x="640080" y="3794760"/>
              <a:ext cx="2240280" cy="1005840"/>
            </a:xfrm>
            <a:prstGeom prst="roundRect">
              <a:avLst/>
            </a:prstGeom>
            <a:solidFill>
              <a:srgbClr val="1F354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822960" y="4005072"/>
              <a:ext cx="1874519" cy="274320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ctr">
                <a:spcAft>
                  <a:spcPts val="600"/>
                </a:spcAft>
                <a:defRPr sz="1400" b="1">
                  <a:solidFill>
                    <a:srgbClr val="F5F8FC"/>
                  </a:solidFill>
                  <a:latin typeface="Aptos"/>
                </a:defRPr>
              </a:pPr>
              <a:r>
                <a:t>PVC / model cache</a:t>
              </a:r>
            </a:p>
          </p:txBody>
        </p:sp>
        <p:sp>
          <p:nvSpPr>
            <p:cNvPr id="29" name="TextBox 28"/>
            <p:cNvSpPr txBox="1"/>
            <p:nvPr/>
          </p:nvSpPr>
          <p:spPr>
            <a:xfrm>
              <a:off x="822960" y="4370832"/>
              <a:ext cx="1874519" cy="228600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ctr">
                <a:spcAft>
                  <a:spcPts val="600"/>
                </a:spcAft>
                <a:defRPr sz="1000" b="0">
                  <a:solidFill>
                    <a:srgbClr val="AFBED0"/>
                  </a:solidFill>
                  <a:latin typeface="Aptos"/>
                </a:defRPr>
              </a:pPr>
              <a:r>
                <a:t>survives Pod restart</a:t>
              </a:r>
            </a:p>
          </p:txBody>
        </p:sp>
      </p:grpSp>
      <p:cxnSp>
        <p:nvCxnSpPr>
          <p:cNvPr id="30" name="Connector 29"/>
          <p:cNvCxnSpPr/>
          <p:nvPr/>
        </p:nvCxnSpPr>
        <p:spPr>
          <a:xfrm>
            <a:off x="2880359" y="4297680"/>
            <a:ext cx="1550613" cy="0"/>
          </a:xfrm>
          <a:prstGeom prst="line">
            <a:avLst/>
          </a:prstGeom>
          <a:ln w="25400">
            <a:solidFill>
              <a:srgbClr val="FFBE5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31520" y="5303520"/>
            <a:ext cx="10515600" cy="28931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AFBED0"/>
                </a:solidFill>
                <a:latin typeface="Aptos"/>
              </a:defRPr>
            </a:pPr>
            <a:r>
              <a:rPr dirty="0"/>
              <a:t>Kubernetes namespace: sampling-lab  •  Service routes UI → inference</a:t>
            </a:r>
            <a:r>
              <a:rPr lang="en-US" dirty="0"/>
              <a:t>(local/</a:t>
            </a:r>
            <a:r>
              <a:rPr lang="en-US" dirty="0" err="1"/>
              <a:t>llm</a:t>
            </a:r>
            <a:r>
              <a:rPr lang="en-US" dirty="0"/>
              <a:t>-d) </a:t>
            </a:r>
            <a:r>
              <a:rPr dirty="0"/>
              <a:t> •  PVC stores downloaded model files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51D9F7BF-7448-B2A8-4456-DCBB9D585145}"/>
              </a:ext>
            </a:extLst>
          </p:cNvPr>
          <p:cNvSpPr txBox="1"/>
          <p:nvPr/>
        </p:nvSpPr>
        <p:spPr>
          <a:xfrm>
            <a:off x="759968" y="6534912"/>
            <a:ext cx="548640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AFBED0"/>
                </a:solidFill>
                <a:latin typeface="Aptos"/>
              </a:defRPr>
            </a:pPr>
            <a:r>
              <a:t>Project</a:t>
            </a:r>
            <a:r>
              <a:rPr lang="en-US"/>
              <a:t>:</a:t>
            </a:r>
            <a:r>
              <a:rPr lang="en-US">
                <a:solidFill>
                  <a:srgbClr val="AFBED0"/>
                </a:solidFill>
              </a:rPr>
              <a:t> 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https://github.com/ojas-kulkarni-emergys/sampling-kv-cache-lab</a:t>
            </a:r>
            <a:endParaRPr lang="en-US">
              <a:solidFill>
                <a:schemeClr val="tx2">
                  <a:lumMod val="60000"/>
                  <a:lumOff val="40000"/>
                </a:schemeClr>
              </a:solidFill>
              <a:ea typeface="+mn-lt"/>
              <a:cs typeface="+mn-lt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35" name="Picture 34" descr="A black cat in a circle&#10;&#10;AI-generated content may be incorrect.">
            <a:extLst>
              <a:ext uri="{FF2B5EF4-FFF2-40B4-BE49-F238E27FC236}">
                <a16:creationId xmlns:a16="http://schemas.microsoft.com/office/drawing/2014/main" id="{9CDC3D53-5F74-9822-CFB3-213E56B65CE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226" b="3333"/>
          <a:stretch>
            <a:fillRect/>
          </a:stretch>
        </p:blipFill>
        <p:spPr>
          <a:xfrm>
            <a:off x="600075" y="6563677"/>
            <a:ext cx="171736" cy="164656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41C32165-7C21-F38E-669F-6496AC15D084}"/>
              </a:ext>
            </a:extLst>
          </p:cNvPr>
          <p:cNvGrpSpPr/>
          <p:nvPr/>
        </p:nvGrpSpPr>
        <p:grpSpPr>
          <a:xfrm>
            <a:off x="3346885" y="1920239"/>
            <a:ext cx="2240280" cy="1143000"/>
            <a:chOff x="3722198" y="1931612"/>
            <a:chExt cx="2240280" cy="1143000"/>
          </a:xfrm>
        </p:grpSpPr>
        <p:sp>
          <p:nvSpPr>
            <p:cNvPr id="37" name="Rounded Rectangle 7">
              <a:extLst>
                <a:ext uri="{FF2B5EF4-FFF2-40B4-BE49-F238E27FC236}">
                  <a16:creationId xmlns:a16="http://schemas.microsoft.com/office/drawing/2014/main" id="{37807C53-B3A6-A66C-3B1D-99392E9C822B}"/>
                </a:ext>
              </a:extLst>
            </p:cNvPr>
            <p:cNvSpPr/>
            <p:nvPr/>
          </p:nvSpPr>
          <p:spPr>
            <a:xfrm>
              <a:off x="3722198" y="1931612"/>
              <a:ext cx="2240280" cy="1143000"/>
            </a:xfrm>
            <a:prstGeom prst="roundRect">
              <a:avLst/>
            </a:prstGeom>
            <a:solidFill>
              <a:srgbClr val="1F354F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12B6B58B-BB7A-44E8-B684-8BCB3D1DF446}"/>
                </a:ext>
              </a:extLst>
            </p:cNvPr>
            <p:cNvSpPr txBox="1"/>
            <p:nvPr/>
          </p:nvSpPr>
          <p:spPr>
            <a:xfrm>
              <a:off x="3905078" y="2132780"/>
              <a:ext cx="1874519" cy="335476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ctr">
                <a:spcAft>
                  <a:spcPts val="600"/>
                </a:spcAft>
                <a:defRPr sz="1700" b="1">
                  <a:solidFill>
                    <a:srgbClr val="F5F8FC"/>
                  </a:solidFill>
                  <a:latin typeface="Aptos"/>
                </a:defRPr>
              </a:pPr>
              <a:r>
                <a:rPr lang="en-US"/>
                <a:t>Local m/c</a:t>
              </a:r>
              <a:endParaRPr lang="en-US" dirty="0"/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C90B1472-999E-99D8-1FA4-BF3774D8AC0E}"/>
                </a:ext>
              </a:extLst>
            </p:cNvPr>
            <p:cNvSpPr txBox="1"/>
            <p:nvPr/>
          </p:nvSpPr>
          <p:spPr>
            <a:xfrm>
              <a:off x="3893705" y="2523743"/>
              <a:ext cx="1908638" cy="423794"/>
            </a:xfrm>
            <a:prstGeom prst="rect">
              <a:avLst/>
            </a:prstGeom>
            <a:noFill/>
          </p:spPr>
          <p:txBody>
            <a:bodyPr wrap="square" lIns="36576" tIns="36576" rIns="36576" bIns="36576" anchor="t">
              <a:spAutoFit/>
            </a:bodyPr>
            <a:lstStyle/>
            <a:p>
              <a:pPr algn="ctr">
                <a:spcAft>
                  <a:spcPts val="600"/>
                </a:spcAft>
                <a:defRPr sz="1100" b="0">
                  <a:solidFill>
                    <a:srgbClr val="AFBED0"/>
                  </a:solidFill>
                  <a:latin typeface="Aptos"/>
                </a:defRPr>
              </a:pPr>
              <a:r>
                <a:rPr lang="en-US" dirty="0"/>
                <a:t>Nginx </a:t>
              </a:r>
              <a:r>
                <a:rPr lang="en-US"/>
                <a:t>tunnel: </a:t>
              </a:r>
              <a:r>
                <a:rPr lang="en-US" err="1"/>
                <a:t>Gradio</a:t>
              </a:r>
              <a:r>
                <a:rPr lang="en-US"/>
                <a:t> </a:t>
              </a:r>
              <a:r>
                <a:rPr lang="en-US" err="1"/>
                <a:t>NodePort</a:t>
              </a:r>
              <a:endParaRPr lang="en-US" dirty="0" err="1"/>
            </a:p>
          </p:txBody>
        </p:sp>
      </p:grpSp>
      <p:sp>
        <p:nvSpPr>
          <p:cNvPr id="40" name="Rounded Rectangle 10">
            <a:extLst>
              <a:ext uri="{FF2B5EF4-FFF2-40B4-BE49-F238E27FC236}">
                <a16:creationId xmlns:a16="http://schemas.microsoft.com/office/drawing/2014/main" id="{B582A3B7-AD23-1565-1821-3FD8C5251772}"/>
              </a:ext>
            </a:extLst>
          </p:cNvPr>
          <p:cNvSpPr/>
          <p:nvPr/>
        </p:nvSpPr>
        <p:spPr>
          <a:xfrm>
            <a:off x="6239529" y="1965732"/>
            <a:ext cx="2231410" cy="1097508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/>
          </a:p>
        </p:txBody>
      </p:sp>
      <p:sp>
        <p:nvSpPr>
          <p:cNvPr id="41" name="TextBox 11">
            <a:extLst>
              <a:ext uri="{FF2B5EF4-FFF2-40B4-BE49-F238E27FC236}">
                <a16:creationId xmlns:a16="http://schemas.microsoft.com/office/drawing/2014/main" id="{626D61A6-613D-C444-1242-F50C1BD21847}"/>
              </a:ext>
            </a:extLst>
          </p:cNvPr>
          <p:cNvSpPr txBox="1"/>
          <p:nvPr/>
        </p:nvSpPr>
        <p:spPr>
          <a:xfrm>
            <a:off x="6425480" y="2150113"/>
            <a:ext cx="1859508" cy="28096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  <a:defRPr sz="1700" b="1">
                <a:solidFill>
                  <a:srgbClr val="F5F8FC"/>
                </a:solidFill>
                <a:latin typeface="Aptos"/>
              </a:defRPr>
            </a:pPr>
            <a:r>
              <a:rPr dirty="0" err="1"/>
              <a:t>Gradio</a:t>
            </a:r>
            <a:r>
              <a:rPr dirty="0"/>
              <a:t> UI</a:t>
            </a:r>
          </a:p>
        </p:txBody>
      </p:sp>
      <p:sp>
        <p:nvSpPr>
          <p:cNvPr id="42" name="TextBox 12">
            <a:extLst>
              <a:ext uri="{FF2B5EF4-FFF2-40B4-BE49-F238E27FC236}">
                <a16:creationId xmlns:a16="http://schemas.microsoft.com/office/drawing/2014/main" id="{4D002B22-FBEA-0886-C3F2-D32FFC637DEC}"/>
              </a:ext>
            </a:extLst>
          </p:cNvPr>
          <p:cNvSpPr txBox="1"/>
          <p:nvPr/>
        </p:nvSpPr>
        <p:spPr>
          <a:xfrm>
            <a:off x="6425480" y="2536436"/>
            <a:ext cx="1859508" cy="24584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spcAft>
                <a:spcPts val="600"/>
              </a:spcAft>
              <a:defRPr sz="1100" b="0">
                <a:solidFill>
                  <a:srgbClr val="AFBED0"/>
                </a:solidFill>
                <a:latin typeface="Aptos"/>
              </a:defRPr>
            </a:pPr>
            <a:r>
              <a:t>A/B controls + plots</a:t>
            </a:r>
          </a:p>
        </p:txBody>
      </p:sp>
      <p:cxnSp>
        <p:nvCxnSpPr>
          <p:cNvPr id="51" name="Connector 17">
            <a:extLst>
              <a:ext uri="{FF2B5EF4-FFF2-40B4-BE49-F238E27FC236}">
                <a16:creationId xmlns:a16="http://schemas.microsoft.com/office/drawing/2014/main" id="{5DC3DEA6-7576-7AAB-B9E6-AE13F4714014}"/>
              </a:ext>
            </a:extLst>
          </p:cNvPr>
          <p:cNvCxnSpPr>
            <a:cxnSpLocks/>
          </p:cNvCxnSpPr>
          <p:nvPr/>
        </p:nvCxnSpPr>
        <p:spPr>
          <a:xfrm>
            <a:off x="5593761" y="2544032"/>
            <a:ext cx="652134" cy="0"/>
          </a:xfrm>
          <a:prstGeom prst="line">
            <a:avLst/>
          </a:prstGeom>
          <a:ln w="25400">
            <a:solidFill>
              <a:srgbClr val="0070C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35116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13080" y="536448"/>
            <a:ext cx="111556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t>System architecture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AFCB7F1-0DAC-B2B0-0BCF-CEC16F7565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4" b="478"/>
          <a:stretch>
            <a:fillRect/>
          </a:stretch>
        </p:blipFill>
        <p:spPr>
          <a:xfrm>
            <a:off x="1624648" y="1545590"/>
            <a:ext cx="8940248" cy="4739714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AE31C1A5-B137-3010-354A-BEC91E3E0ED0}"/>
              </a:ext>
            </a:extLst>
          </p:cNvPr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441B509-576D-7FBE-BAE7-8166CB00D125}"/>
              </a:ext>
            </a:extLst>
          </p:cNvPr>
          <p:cNvSpPr txBox="1"/>
          <p:nvPr/>
        </p:nvSpPr>
        <p:spPr>
          <a:xfrm>
            <a:off x="11109960" y="6492240"/>
            <a:ext cx="41148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AFBED0"/>
                </a:solidFill>
                <a:latin typeface="Aptos"/>
              </a:defRPr>
            </a:pPr>
            <a:r>
              <a:rPr lang="en-US"/>
              <a:t>06</a:t>
            </a:r>
            <a:endParaRPr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E859587F-BA55-AC2F-63B1-E2767DA0BAE0}"/>
              </a:ext>
            </a:extLst>
          </p:cNvPr>
          <p:cNvSpPr txBox="1"/>
          <p:nvPr/>
        </p:nvSpPr>
        <p:spPr>
          <a:xfrm>
            <a:off x="759968" y="6534912"/>
            <a:ext cx="548640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AFBED0"/>
                </a:solidFill>
                <a:latin typeface="Aptos"/>
              </a:defRPr>
            </a:pPr>
            <a:r>
              <a:t>Project</a:t>
            </a:r>
            <a:r>
              <a:rPr lang="en-US"/>
              <a:t>:</a:t>
            </a:r>
            <a:r>
              <a:rPr lang="en-US">
                <a:solidFill>
                  <a:srgbClr val="AFBED0"/>
                </a:solidFill>
              </a:rPr>
              <a:t> 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ea typeface="Calibri"/>
                <a:cs typeface="Calibri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https://github.com/ojas-kulkarni-emergys/k8s-setup</a:t>
            </a:r>
            <a:endParaRPr lang="en-US">
              <a:solidFill>
                <a:schemeClr val="tx2">
                  <a:lumMod val="60000"/>
                  <a:lumOff val="40000"/>
                </a:schemeClr>
              </a:solidFill>
              <a:ea typeface="+mn-lt"/>
              <a:cs typeface="+mn-lt"/>
              <a:hlinkClick r:id="rId3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20" name="Picture 19" descr="logo github Download png">
            <a:extLst>
              <a:ext uri="{FF2B5EF4-FFF2-40B4-BE49-F238E27FC236}">
                <a16:creationId xmlns:a16="http://schemas.microsoft.com/office/drawing/2014/main" id="{6BF37E6E-AFA3-BF5D-EEED-0FF2B3740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439" y="6558279"/>
            <a:ext cx="162562" cy="172722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735E3237-E05E-4210-42F8-2823801DFD29}"/>
              </a:ext>
            </a:extLst>
          </p:cNvPr>
          <p:cNvSpPr txBox="1"/>
          <p:nvPr/>
        </p:nvSpPr>
        <p:spPr>
          <a:xfrm>
            <a:off x="566928" y="280416"/>
            <a:ext cx="9144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6D3C4"/>
                </a:solidFill>
                <a:latin typeface="Aptos"/>
              </a:defRPr>
            </a:pPr>
            <a:r>
              <a:t>03  /  ARCHITECTURE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7D1715E-9F9B-20CF-C947-D5FEA9F0A2E1}"/>
              </a:ext>
            </a:extLst>
          </p:cNvPr>
          <p:cNvSpPr txBox="1"/>
          <p:nvPr/>
        </p:nvSpPr>
        <p:spPr>
          <a:xfrm>
            <a:off x="528320" y="1112520"/>
            <a:ext cx="6045200" cy="33855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600" b="1" i="0" u="none" strike="noStrike" baseline="0">
                <a:latin typeface="Aptos"/>
              </a:rPr>
              <a:t>Kubernetes </a:t>
            </a:r>
            <a:r>
              <a:rPr lang="en-US" sz="1600" b="1">
                <a:latin typeface="Aptos"/>
              </a:rPr>
              <a:t>k8s Pods</a:t>
            </a:r>
            <a:r>
              <a:rPr sz="1600" b="0" i="0" dirty="0">
                <a:latin typeface="Aptos"/>
                <a:ea typeface="Aptos"/>
                <a:cs typeface="Aptos"/>
              </a:rPr>
              <a:t>​</a:t>
            </a:r>
            <a:endParaRPr lang="en-US" sz="1600" dirty="0">
              <a:ea typeface="Calibri"/>
              <a:cs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3216DDC-ED1E-0E26-6282-E1652E2F5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72CD172-A21D-7364-C90E-D9E448822D5E}"/>
              </a:ext>
            </a:extLst>
          </p:cNvPr>
          <p:cNvSpPr txBox="1"/>
          <p:nvPr/>
        </p:nvSpPr>
        <p:spPr>
          <a:xfrm>
            <a:off x="566928" y="310896"/>
            <a:ext cx="9144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6D3C4"/>
                </a:solidFill>
                <a:latin typeface="Aptos"/>
              </a:defRPr>
            </a:pPr>
            <a:r>
              <a:t>03  /  ARCHITECTURE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C181F5-067F-279A-F1A0-3DCC092D9461}"/>
              </a:ext>
            </a:extLst>
          </p:cNvPr>
          <p:cNvSpPr txBox="1"/>
          <p:nvPr/>
        </p:nvSpPr>
        <p:spPr>
          <a:xfrm>
            <a:off x="566928" y="621792"/>
            <a:ext cx="10972800" cy="48936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rPr lang="en-US"/>
              <a:t> VPN Setup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19F9E8C-D5BD-78B0-4161-9587F7CF4CAD}"/>
              </a:ext>
            </a:extLst>
          </p:cNvPr>
          <p:cNvSpPr txBox="1"/>
          <p:nvPr/>
        </p:nvSpPr>
        <p:spPr>
          <a:xfrm>
            <a:off x="594360" y="1170432"/>
            <a:ext cx="10972800" cy="25853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200" b="0">
                <a:solidFill>
                  <a:srgbClr val="AFBED0"/>
                </a:solidFill>
                <a:latin typeface="Aptos"/>
              </a:defRPr>
            </a:pPr>
            <a:r>
              <a:rPr lang="en-US" dirty="0"/>
              <a:t>The VPN setup uses a hosted server for the  current setup, but on-prem hosting can be done with </a:t>
            </a:r>
            <a:r>
              <a:rPr lang="en-US" dirty="0" err="1"/>
              <a:t>wireguard</a:t>
            </a:r>
            <a:r>
              <a:rPr lang="en-US" dirty="0"/>
              <a:t> or </a:t>
            </a:r>
            <a:r>
              <a:rPr lang="en-US" dirty="0" err="1"/>
              <a:t>openvpn</a:t>
            </a:r>
            <a:endParaRPr lang="en-US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715A61-F253-097D-2E8B-A6373C83886E}"/>
              </a:ext>
            </a:extLst>
          </p:cNvPr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9D57E4-82BB-EC61-7AED-F903A6A46E1A}"/>
              </a:ext>
            </a:extLst>
          </p:cNvPr>
          <p:cNvSpPr txBox="1"/>
          <p:nvPr/>
        </p:nvSpPr>
        <p:spPr>
          <a:xfrm>
            <a:off x="11109960" y="6492240"/>
            <a:ext cx="41148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AFBED0"/>
                </a:solidFill>
                <a:latin typeface="Aptos"/>
              </a:defRPr>
            </a:pPr>
            <a:r>
              <a:rPr lang="en-US"/>
              <a:t>07</a:t>
            </a:r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E8237C4-85C1-83ED-A089-6D7D468C79D3}"/>
              </a:ext>
            </a:extLst>
          </p:cNvPr>
          <p:cNvSpPr txBox="1"/>
          <p:nvPr/>
        </p:nvSpPr>
        <p:spPr>
          <a:xfrm>
            <a:off x="759968" y="6534912"/>
            <a:ext cx="548640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AFBED0"/>
                </a:solidFill>
                <a:latin typeface="Aptos"/>
              </a:defRPr>
            </a:pPr>
            <a:r>
              <a:t>Project</a:t>
            </a:r>
            <a:r>
              <a:rPr lang="en-US"/>
              <a:t>:</a:t>
            </a:r>
            <a:r>
              <a:rPr lang="en-US">
                <a:solidFill>
                  <a:srgbClr val="AFBED0"/>
                </a:solidFill>
              </a:rPr>
              <a:t> 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https://github.com/ojas-kulkarni-emergys/k8s-setup</a:t>
            </a:r>
            <a:endParaRPr lang="en-US">
              <a:solidFill>
                <a:schemeClr val="tx2">
                  <a:lumMod val="60000"/>
                  <a:lumOff val="40000"/>
                </a:schemeClr>
              </a:solidFill>
              <a:ea typeface="+mn-lt"/>
              <a:cs typeface="+mn-lt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12" name="Picture 11" descr="A black cat in a circle&#10;&#10;AI-generated content may be incorrect.">
            <a:extLst>
              <a:ext uri="{FF2B5EF4-FFF2-40B4-BE49-F238E27FC236}">
                <a16:creationId xmlns:a16="http://schemas.microsoft.com/office/drawing/2014/main" id="{812FF484-8016-09CD-DE24-F0B0B1C1A7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226" b="3333"/>
          <a:stretch>
            <a:fillRect/>
          </a:stretch>
        </p:blipFill>
        <p:spPr>
          <a:xfrm>
            <a:off x="600075" y="6563677"/>
            <a:ext cx="171736" cy="164656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4307EDED-BA86-7129-E34E-5458C3F1CEB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361"/>
          <a:stretch>
            <a:fillRect/>
          </a:stretch>
        </p:blipFill>
        <p:spPr>
          <a:xfrm>
            <a:off x="591403" y="2007117"/>
            <a:ext cx="5140656" cy="353757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F5CE798-B2AD-8D12-7C54-C882CEE98B8A}"/>
              </a:ext>
            </a:extLst>
          </p:cNvPr>
          <p:cNvSpPr txBox="1"/>
          <p:nvPr/>
        </p:nvSpPr>
        <p:spPr>
          <a:xfrm>
            <a:off x="6847930" y="1629128"/>
            <a:ext cx="274320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Terraform Scripts: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7312DB8-9C3D-E325-C18B-5ED6E902E1FB}"/>
              </a:ext>
            </a:extLst>
          </p:cNvPr>
          <p:cNvSpPr txBox="1"/>
          <p:nvPr/>
        </p:nvSpPr>
        <p:spPr>
          <a:xfrm>
            <a:off x="6849521" y="2116018"/>
            <a:ext cx="4051110" cy="147732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>
                    <a:lumMod val="85000"/>
                  </a:schemeClr>
                </a:solidFill>
                <a:ea typeface="Calibri"/>
                <a:cs typeface="Calibri"/>
              </a:rPr>
              <a:t>To automate the setting up of the control plane/worker </a:t>
            </a:r>
            <a:r>
              <a:rPr lang="en-US" dirty="0">
                <a:solidFill>
                  <a:schemeClr val="bg1">
                    <a:lumMod val="85000"/>
                  </a:schemeClr>
                </a:solidFill>
                <a:ea typeface="Calibri"/>
                <a:cs typeface="Calibri"/>
              </a:rPr>
              <a:t>nodes</a:t>
            </a: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>
                    <a:lumMod val="85000"/>
                  </a:schemeClr>
                </a:solidFill>
                <a:ea typeface="Calibri"/>
                <a:cs typeface="Calibri"/>
              </a:rPr>
              <a:t>To automate the helm installation of the setup</a:t>
            </a:r>
            <a:endParaRPr lang="en-US" dirty="0">
              <a:solidFill>
                <a:schemeClr val="bg1">
                  <a:lumMod val="85000"/>
                </a:schemeClr>
              </a:solidFill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</a:pPr>
            <a:r>
              <a:rPr lang="en-US">
                <a:solidFill>
                  <a:schemeClr val="bg1">
                    <a:lumMod val="85000"/>
                  </a:schemeClr>
                </a:solidFill>
                <a:ea typeface="Calibri"/>
                <a:cs typeface="Calibri"/>
              </a:rPr>
              <a:t>To automate the setup of VPN</a:t>
            </a:r>
            <a:endParaRPr lang="en-US" dirty="0">
              <a:solidFill>
                <a:schemeClr val="bg1">
                  <a:lumMod val="85000"/>
                </a:schemeClr>
              </a:solidFill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491116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144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6D3C4"/>
                </a:solidFill>
                <a:latin typeface="Aptos"/>
              </a:defRPr>
            </a:pPr>
            <a:r>
              <a:t>04  /  MODEL CONCEPTS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Attention: each token builds context from earlier tokens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FBED0"/>
                </a:solidFill>
                <a:latin typeface="Aptos"/>
              </a:defRPr>
            </a:pPr>
            <a:r>
              <a:t>For causal language models, a position attends to allowed earlier positions, not future tokens.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30280" y="6492240"/>
            <a:ext cx="41148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AFBED0"/>
                </a:solidFill>
                <a:latin typeface="Aptos"/>
              </a:defRPr>
            </a:pPr>
            <a:r>
              <a:rPr lang="en-US"/>
              <a:t>08</a:t>
            </a: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3474720" cy="1417320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691640"/>
            <a:ext cx="64008" cy="1417320"/>
          </a:xfrm>
          <a:prstGeom prst="rect">
            <a:avLst/>
          </a:prstGeom>
          <a:solidFill>
            <a:srgbClr val="64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847088"/>
            <a:ext cx="31089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Query (Q)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258568"/>
            <a:ext cx="3090672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AFBED0"/>
                </a:solidFill>
                <a:latin typeface="Aptos"/>
              </a:defRPr>
            </a:pPr>
            <a:r>
              <a:t>What information is this token looking for?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691640"/>
            <a:ext cx="3474720" cy="1417320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61688" y="1691640"/>
            <a:ext cx="64008" cy="1417320"/>
          </a:xfrm>
          <a:prstGeom prst="rect">
            <a:avLst/>
          </a:prstGeom>
          <a:solidFill>
            <a:srgbClr val="B5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2855" y="1847088"/>
            <a:ext cx="31089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Key (K)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5" y="2258568"/>
            <a:ext cx="3090672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AFBED0"/>
                </a:solidFill>
                <a:latin typeface="Aptos"/>
              </a:defRPr>
            </a:pPr>
            <a:r>
              <a:t>What does each context position offer for matching?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691640"/>
            <a:ext cx="3474720" cy="1417320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83296" y="1691640"/>
            <a:ext cx="64008" cy="1417320"/>
          </a:xfrm>
          <a:prstGeom prst="rect">
            <a:avLst/>
          </a:prstGeom>
          <a:solidFill>
            <a:srgbClr val="36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4464" y="1847088"/>
            <a:ext cx="31089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Value (V)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258568"/>
            <a:ext cx="3090672" cy="7315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AFBED0"/>
                </a:solidFill>
                <a:latin typeface="Aptos"/>
              </a:defRPr>
            </a:pPr>
            <a:r>
              <a:t>What information is weighted and mixed into the result?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520440"/>
            <a:ext cx="10835640" cy="1417320"/>
          </a:xfrm>
          <a:prstGeom prst="round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749039"/>
            <a:ext cx="10241280" cy="38404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2200" b="1">
                <a:solidFill>
                  <a:srgbClr val="F5F8FC"/>
                </a:solidFill>
                <a:latin typeface="Aptos"/>
              </a:defRPr>
            </a:pPr>
            <a:r>
              <a:t>Attention(Q,K,V) = softmax(QKᵀ / √dₖ + causal mask) 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343400"/>
            <a:ext cx="1014984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300" b="0">
                <a:solidFill>
                  <a:srgbClr val="AFBED0"/>
                </a:solidFill>
                <a:latin typeface="Aptos"/>
              </a:defRPr>
            </a:pPr>
            <a:r>
              <a:t>The demo can show a layer-0 attention heatmap: query-token position × key-token position.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349240"/>
            <a:ext cx="10515600" cy="64008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0">
                <a:solidFill>
                  <a:srgbClr val="F5F8FC"/>
                </a:solidFill>
                <a:latin typeface="Aptos"/>
              </a:defRPr>
            </a:pPr>
            <a:r>
              <a:t>Why it matters: attention explains contextual token representations; its matrices can be expensive to retain, so capture is optional in this CPU-first lab.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0C274D-712F-2D54-4758-937B6542DDB5}"/>
              </a:ext>
            </a:extLst>
          </p:cNvPr>
          <p:cNvSpPr txBox="1"/>
          <p:nvPr/>
        </p:nvSpPr>
        <p:spPr>
          <a:xfrm>
            <a:off x="759968" y="6534912"/>
            <a:ext cx="548640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AFBED0"/>
                </a:solidFill>
                <a:latin typeface="Aptos"/>
              </a:defRPr>
            </a:pPr>
            <a:r>
              <a:t>Project</a:t>
            </a:r>
            <a:r>
              <a:rPr lang="en-US"/>
              <a:t>:</a:t>
            </a:r>
            <a:r>
              <a:rPr lang="en-US">
                <a:solidFill>
                  <a:srgbClr val="AFBED0"/>
                </a:solidFill>
              </a:rPr>
              <a:t> 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https://github.com/ojas-kulkarni-emergys/sampling-kv-cache-lab</a:t>
            </a:r>
            <a:endParaRPr lang="en-US">
              <a:solidFill>
                <a:schemeClr val="tx2">
                  <a:lumMod val="60000"/>
                  <a:lumOff val="40000"/>
                </a:schemeClr>
              </a:solidFill>
              <a:ea typeface="+mn-lt"/>
              <a:cs typeface="+mn-lt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27" name="Picture 26" descr="A black cat in a circle&#10;&#10;AI-generated content may be incorrect.">
            <a:extLst>
              <a:ext uri="{FF2B5EF4-FFF2-40B4-BE49-F238E27FC236}">
                <a16:creationId xmlns:a16="http://schemas.microsoft.com/office/drawing/2014/main" id="{6BB626FC-5C0B-C760-979E-4C57FFFD9F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226" b="3333"/>
          <a:stretch>
            <a:fillRect/>
          </a:stretch>
        </p:blipFill>
        <p:spPr>
          <a:xfrm>
            <a:off x="600075" y="6563677"/>
            <a:ext cx="171736" cy="1646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144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6D3C4"/>
                </a:solidFill>
                <a:latin typeface="Aptos"/>
              </a:defRPr>
            </a:pPr>
            <a:r>
              <a:t>05  / 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From logits to the next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FBED0"/>
                </a:solidFill>
                <a:latin typeface="Aptos"/>
              </a:defRPr>
            </a:pPr>
            <a:r>
              <a:t>A/B comparison keeps the prompt fixed while changing the decoding policy.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AFBED0"/>
                </a:solidFill>
                <a:latin typeface="Aptos"/>
              </a:defRPr>
            </a:pPr>
            <a:r>
              <a:rPr lang="en-US"/>
              <a:t>09</a:t>
            </a:r>
            <a:endParaRPr lang="en-US" dirty="0"/>
          </a:p>
        </p:txBody>
      </p:sp>
      <p:sp>
        <p:nvSpPr>
          <p:cNvPr id="8" name="Rounded Rectangle 7"/>
          <p:cNvSpPr/>
          <p:nvPr/>
        </p:nvSpPr>
        <p:spPr>
          <a:xfrm>
            <a:off x="502920" y="2057400"/>
            <a:ext cx="1828800" cy="1325880"/>
          </a:xfrm>
          <a:prstGeom prst="round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30936" y="2212848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36D3C4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212848"/>
            <a:ext cx="1234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LOGITS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" y="2697480"/>
            <a:ext cx="1572768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AFBED0"/>
                </a:solidFill>
                <a:latin typeface="Aptos"/>
              </a:defRPr>
            </a:pPr>
            <a:r>
              <a:t>Model scores vocabulary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59152" y="2706624"/>
            <a:ext cx="402336" cy="0"/>
          </a:xfrm>
          <a:prstGeom prst="line">
            <a:avLst/>
          </a:prstGeom>
          <a:ln w="19050">
            <a:solidFill>
              <a:srgbClr val="36D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34640" y="2057400"/>
            <a:ext cx="1828800" cy="1325880"/>
          </a:xfrm>
          <a:prstGeom prst="round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2962656" y="2212848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36D3C4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73552" y="2212848"/>
            <a:ext cx="1234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ADJUST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62656" y="2697480"/>
            <a:ext cx="1572768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AFBED0"/>
                </a:solidFill>
                <a:latin typeface="Aptos"/>
              </a:defRPr>
            </a:pPr>
            <a:r>
              <a:t>Penalties / temperature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90872" y="2706624"/>
            <a:ext cx="402336" cy="0"/>
          </a:xfrm>
          <a:prstGeom prst="line">
            <a:avLst/>
          </a:prstGeom>
          <a:ln w="19050">
            <a:solidFill>
              <a:srgbClr val="36D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166360" y="2057400"/>
            <a:ext cx="1828800" cy="1325880"/>
          </a:xfrm>
          <a:prstGeom prst="round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294376" y="2212848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36D3C4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05272" y="2212848"/>
            <a:ext cx="1234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FILTER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94376" y="2697480"/>
            <a:ext cx="1572768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AFBED0"/>
                </a:solidFill>
                <a:latin typeface="Aptos"/>
              </a:defRPr>
            </a:pPr>
            <a:r>
              <a:t>Top-k, top-p, min-p, typical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022592" y="2706624"/>
            <a:ext cx="402335" cy="0"/>
          </a:xfrm>
          <a:prstGeom prst="line">
            <a:avLst/>
          </a:prstGeom>
          <a:ln w="19050">
            <a:solidFill>
              <a:srgbClr val="36D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98079" y="2057400"/>
            <a:ext cx="1828800" cy="1325880"/>
          </a:xfrm>
          <a:prstGeom prst="round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626096" y="2212848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36D3C4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936992" y="2212848"/>
            <a:ext cx="1234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SELECT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6096" y="2697480"/>
            <a:ext cx="1572768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AFBED0"/>
                </a:solidFill>
                <a:latin typeface="Aptos"/>
              </a:defRPr>
            </a:pPr>
            <a:r>
              <a:t>Sample token or expand beams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54311" y="2706624"/>
            <a:ext cx="402337" cy="0"/>
          </a:xfrm>
          <a:prstGeom prst="line">
            <a:avLst/>
          </a:prstGeom>
          <a:ln w="19050">
            <a:solidFill>
              <a:srgbClr val="36D3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9829800" y="2057400"/>
            <a:ext cx="1828800" cy="1325880"/>
          </a:xfrm>
          <a:prstGeom prst="round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9957816" y="2212848"/>
            <a:ext cx="3200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500" b="1">
                <a:solidFill>
                  <a:srgbClr val="36D3C4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68712" y="2212848"/>
            <a:ext cx="1234440" cy="2743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F5F8FC"/>
                </a:solidFill>
                <a:latin typeface="Aptos"/>
              </a:defRPr>
            </a:pPr>
            <a:r>
              <a:t>APPEND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57816" y="2697480"/>
            <a:ext cx="1572768" cy="4572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000" b="0">
                <a:solidFill>
                  <a:srgbClr val="AFBED0"/>
                </a:solidFill>
                <a:latin typeface="Aptos"/>
              </a:defRPr>
            </a:pPr>
            <a:r>
              <a:t>Update context + cache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40080" y="3977639"/>
            <a:ext cx="3474720" cy="1234440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Rectangle 32"/>
          <p:cNvSpPr/>
          <p:nvPr/>
        </p:nvSpPr>
        <p:spPr>
          <a:xfrm>
            <a:off x="640080" y="3977639"/>
            <a:ext cx="64008" cy="1234440"/>
          </a:xfrm>
          <a:prstGeom prst="rect">
            <a:avLst/>
          </a:prstGeom>
          <a:solidFill>
            <a:srgbClr val="64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841247" y="4133087"/>
            <a:ext cx="31089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Greedy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1247" y="4544568"/>
            <a:ext cx="3090672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AFBED0"/>
                </a:solidFill>
                <a:latin typeface="Aptos"/>
              </a:defRPr>
            </a:pPr>
            <a:r>
              <a:t>Pick the highest-probability token; repeatable for the same model/context.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361688" y="3977639"/>
            <a:ext cx="3474720" cy="1234440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ectangle 36"/>
          <p:cNvSpPr/>
          <p:nvPr/>
        </p:nvSpPr>
        <p:spPr>
          <a:xfrm>
            <a:off x="4361688" y="3977639"/>
            <a:ext cx="64008" cy="1234440"/>
          </a:xfrm>
          <a:prstGeom prst="rect">
            <a:avLst/>
          </a:prstGeom>
          <a:solidFill>
            <a:srgbClr val="36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4562855" y="4133087"/>
            <a:ext cx="31089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Sampling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62855" y="4544568"/>
            <a:ext cx="3090672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AFBED0"/>
                </a:solidFill>
                <a:latin typeface="Aptos"/>
              </a:defRPr>
            </a:pPr>
            <a:r>
              <a:t>Temperature and filters change which candidates can be selected.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083296" y="3977639"/>
            <a:ext cx="3474720" cy="1234440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Rectangle 40"/>
          <p:cNvSpPr/>
          <p:nvPr/>
        </p:nvSpPr>
        <p:spPr>
          <a:xfrm>
            <a:off x="8083296" y="3977639"/>
            <a:ext cx="64008" cy="1234440"/>
          </a:xfrm>
          <a:prstGeom prst="rect">
            <a:avLst/>
          </a:prstGeom>
          <a:solidFill>
            <a:srgbClr val="B5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8284464" y="4133087"/>
            <a:ext cx="31089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Beam search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84464" y="4544568"/>
            <a:ext cx="3090672" cy="5486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AFBED0"/>
                </a:solidFill>
                <a:latin typeface="Aptos"/>
              </a:defRPr>
            </a:pPr>
            <a:r>
              <a:t>Track multiple candidate sequences; beam width applies to this mode.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31520" y="5623560"/>
            <a:ext cx="1078992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FBED0"/>
                </a:solidFill>
                <a:latin typeface="Aptos"/>
              </a:defRPr>
            </a:pPr>
            <a:r>
              <a:t>Seed • maximum new tokens • stop string • repetition/frequency penalties are also exposed in the UI.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619A8749-B08E-C21D-042B-F3859669DEFD}"/>
              </a:ext>
            </a:extLst>
          </p:cNvPr>
          <p:cNvSpPr txBox="1"/>
          <p:nvPr/>
        </p:nvSpPr>
        <p:spPr>
          <a:xfrm>
            <a:off x="759968" y="6534912"/>
            <a:ext cx="548640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AFBED0"/>
                </a:solidFill>
                <a:latin typeface="Aptos"/>
              </a:defRPr>
            </a:pPr>
            <a:r>
              <a:t>Project</a:t>
            </a:r>
            <a:r>
              <a:rPr lang="en-US"/>
              <a:t>:</a:t>
            </a:r>
            <a:r>
              <a:rPr lang="en-US">
                <a:solidFill>
                  <a:srgbClr val="AFBED0"/>
                </a:solidFill>
              </a:rPr>
              <a:t> 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https://github.com/ojas-kulkarni-emergys/sampling-kv-cache-lab</a:t>
            </a:r>
            <a:endParaRPr lang="en-US">
              <a:solidFill>
                <a:schemeClr val="tx2">
                  <a:lumMod val="60000"/>
                  <a:lumOff val="40000"/>
                </a:schemeClr>
              </a:solidFill>
              <a:ea typeface="+mn-lt"/>
              <a:cs typeface="+mn-lt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48" name="Picture 47" descr="A black cat in a circle&#10;&#10;AI-generated content may be incorrect.">
            <a:extLst>
              <a:ext uri="{FF2B5EF4-FFF2-40B4-BE49-F238E27FC236}">
                <a16:creationId xmlns:a16="http://schemas.microsoft.com/office/drawing/2014/main" id="{B8E7A8A1-6948-D2B5-3849-935D11F163C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226" b="3333"/>
          <a:stretch>
            <a:fillRect/>
          </a:stretch>
        </p:blipFill>
        <p:spPr>
          <a:xfrm>
            <a:off x="600075" y="6563677"/>
            <a:ext cx="171736" cy="16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4676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9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66928" y="310896"/>
            <a:ext cx="9144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6D3C4"/>
                </a:solidFill>
                <a:latin typeface="Aptos"/>
              </a:defRPr>
            </a:pPr>
            <a:r>
              <a:t>06  /  INFERENCE EFFICIENCY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66928" y="621792"/>
            <a:ext cx="10972800" cy="47548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2700" b="1">
                <a:solidFill>
                  <a:srgbClr val="F5F8FC"/>
                </a:solidFill>
                <a:latin typeface="Aptos"/>
              </a:defRPr>
            </a:pPr>
            <a:r>
              <a:t>KV cache avoids recomputing prior token projections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170432"/>
            <a:ext cx="1097280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200" b="0">
                <a:solidFill>
                  <a:srgbClr val="AFBED0"/>
                </a:solidFill>
                <a:latin typeface="Aptos"/>
              </a:defRPr>
            </a:pPr>
            <a:r>
              <a:t>The lab reports real past_key_values payloads, not a synthetic cache estimate.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109960" y="6492240"/>
            <a:ext cx="41148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AFBED0"/>
                </a:solidFill>
                <a:latin typeface="Aptos"/>
              </a:defRPr>
            </a:pPr>
            <a:r>
              <a:rPr lang="en-US"/>
              <a:t>10</a:t>
            </a:r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40080" y="1737360"/>
            <a:ext cx="3474720" cy="1508760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640080" y="1737360"/>
            <a:ext cx="64008" cy="1508760"/>
          </a:xfrm>
          <a:prstGeom prst="rect">
            <a:avLst/>
          </a:prstGeom>
          <a:solidFill>
            <a:srgbClr val="64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841247" y="1892807"/>
            <a:ext cx="31089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Prefill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304288"/>
            <a:ext cx="3090672" cy="8229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AFBED0"/>
                </a:solidFill>
                <a:latin typeface="Aptos"/>
              </a:defRPr>
            </a:pPr>
            <a:r>
              <a:t>Process the prompt and build K/V tensors for its token positions.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1688" y="1737360"/>
            <a:ext cx="3474720" cy="1508760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61688" y="1737360"/>
            <a:ext cx="64008" cy="1508760"/>
          </a:xfrm>
          <a:prstGeom prst="rect">
            <a:avLst/>
          </a:prstGeom>
          <a:solidFill>
            <a:srgbClr val="36D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62855" y="1892807"/>
            <a:ext cx="31089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Decode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62855" y="2304288"/>
            <a:ext cx="3090672" cy="8229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AFBED0"/>
                </a:solidFill>
                <a:latin typeface="Aptos"/>
              </a:defRPr>
            </a:pPr>
            <a:r>
              <a:t>Process each newly selected token and extend cached positions.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737360"/>
            <a:ext cx="3474720" cy="1508760"/>
          </a:xfrm>
          <a:prstGeom prst="roundRect">
            <a:avLst/>
          </a:prstGeom>
          <a:solidFill>
            <a:srgbClr val="182A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83296" y="1737360"/>
            <a:ext cx="64008" cy="1508760"/>
          </a:xfrm>
          <a:prstGeom prst="rect">
            <a:avLst/>
          </a:prstGeom>
          <a:solidFill>
            <a:srgbClr val="B591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8284464" y="1892807"/>
            <a:ext cx="3108960" cy="31089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600" b="1">
                <a:solidFill>
                  <a:srgbClr val="F5F8FC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84464" y="2304288"/>
            <a:ext cx="3090672" cy="822959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400" b="0">
                <a:solidFill>
                  <a:srgbClr val="AFBED0"/>
                </a:solidFill>
                <a:latin typeface="Aptos"/>
              </a:defRPr>
            </a:pPr>
            <a:r>
              <a:t>See cache length, tensor shape, bytes and a K heatmap.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703320"/>
            <a:ext cx="10835640" cy="1417320"/>
          </a:xfrm>
          <a:prstGeom prst="round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0120" y="3950208"/>
            <a:ext cx="10241280" cy="347472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800" b="1">
                <a:solidFill>
                  <a:srgbClr val="F5F8FC"/>
                </a:solidFill>
                <a:latin typeface="Aptos"/>
              </a:defRPr>
            </a:pPr>
            <a:r>
              <a:t>Same prompt + same processed length → same cache payload size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443984"/>
            <a:ext cx="10149840" cy="32004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ctr">
              <a:spcAft>
                <a:spcPts val="600"/>
              </a:spcAft>
              <a:defRPr sz="1200" b="0">
                <a:solidFill>
                  <a:srgbClr val="AFBED0"/>
                </a:solidFill>
                <a:latin typeface="Aptos"/>
              </a:defRPr>
            </a:pPr>
            <a:r>
              <a:t>Different selected tokens can change later K/V values. Sampling does not change context-window capacity or bytes per cached token.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9808" y="5440680"/>
            <a:ext cx="10515600" cy="50292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300" b="0">
                <a:solidFill>
                  <a:srgbClr val="FFBE5C"/>
                </a:solidFill>
                <a:latin typeface="Aptos"/>
              </a:defRPr>
            </a:pPr>
            <a:r>
              <a:t>Boundary: this is a dynamic full-attention cache, not a PagedAttention or quantized-cache benchmark. Reported bytes exclude weights, allocator overhead and attention buffers.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B26251C-8EB8-84D7-7F2F-BA2BB67E78D3}"/>
              </a:ext>
            </a:extLst>
          </p:cNvPr>
          <p:cNvSpPr txBox="1"/>
          <p:nvPr/>
        </p:nvSpPr>
        <p:spPr>
          <a:xfrm>
            <a:off x="759968" y="6534912"/>
            <a:ext cx="548640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AFBED0"/>
                </a:solidFill>
                <a:latin typeface="Aptos"/>
              </a:defRPr>
            </a:pPr>
            <a:r>
              <a:t>Project</a:t>
            </a:r>
            <a:r>
              <a:rPr lang="en-US"/>
              <a:t>:</a:t>
            </a:r>
            <a:r>
              <a:rPr lang="en-US">
                <a:solidFill>
                  <a:srgbClr val="AFBED0"/>
                </a:solidFill>
              </a:rPr>
              <a:t> 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https://github.com/ojas-kulkarni-emergys/sampling-kv-cache-lab</a:t>
            </a:r>
            <a:endParaRPr lang="en-US">
              <a:solidFill>
                <a:schemeClr val="tx2">
                  <a:lumMod val="60000"/>
                  <a:lumOff val="40000"/>
                </a:schemeClr>
              </a:solidFill>
              <a:ea typeface="+mn-lt"/>
              <a:cs typeface="+mn-lt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27" name="Picture 26" descr="A black cat in a circle&#10;&#10;AI-generated content may be incorrect.">
            <a:extLst>
              <a:ext uri="{FF2B5EF4-FFF2-40B4-BE49-F238E27FC236}">
                <a16:creationId xmlns:a16="http://schemas.microsoft.com/office/drawing/2014/main" id="{2686818F-9761-5D8F-0B39-7CFA1D02D26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3226" b="3333"/>
          <a:stretch>
            <a:fillRect/>
          </a:stretch>
        </p:blipFill>
        <p:spPr>
          <a:xfrm>
            <a:off x="600075" y="6563677"/>
            <a:ext cx="171736" cy="164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5710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69F4E4-C1D9-4821-0A66-A991FF2DF7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B191D7-1091-2310-50DF-A5D0D465B155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7D0F6AB-A379-BAFF-F41A-3FBC5A716AE3}"/>
              </a:ext>
            </a:extLst>
          </p:cNvPr>
          <p:cNvSpPr txBox="1"/>
          <p:nvPr/>
        </p:nvSpPr>
        <p:spPr>
          <a:xfrm>
            <a:off x="502920" y="749808"/>
            <a:ext cx="1366208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rPr lang="en-US" dirty="0" err="1"/>
              <a:t>Gradio</a:t>
            </a:r>
            <a:r>
              <a:rPr lang="en-US" dirty="0"/>
              <a:t>: 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31BB2BE-66A9-2127-93EE-06869FEC5F99}"/>
              </a:ext>
            </a:extLst>
          </p:cNvPr>
          <p:cNvSpPr txBox="1"/>
          <p:nvPr/>
        </p:nvSpPr>
        <p:spPr>
          <a:xfrm>
            <a:off x="566928" y="276777"/>
            <a:ext cx="9144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6D3C4"/>
                </a:solidFill>
                <a:latin typeface="Aptos"/>
              </a:defRPr>
            </a:pPr>
            <a:r>
              <a:rPr lang="en-US" dirty="0"/>
              <a:t>07 </a:t>
            </a:r>
            <a:r>
              <a:t> / </a:t>
            </a:r>
            <a:r>
              <a:rPr lang="en-US"/>
              <a:t>UI Demo</a:t>
            </a: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EB75D21-7144-779C-3C91-AF8321B2ED11}"/>
              </a:ext>
            </a:extLst>
          </p:cNvPr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1765443-6280-0564-235A-6B1B45FEB81F}"/>
              </a:ext>
            </a:extLst>
          </p:cNvPr>
          <p:cNvSpPr txBox="1"/>
          <p:nvPr/>
        </p:nvSpPr>
        <p:spPr>
          <a:xfrm>
            <a:off x="11109960" y="6492240"/>
            <a:ext cx="41148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AFBED0"/>
                </a:solidFill>
                <a:latin typeface="Aptos"/>
              </a:defRPr>
            </a:pPr>
            <a:r>
              <a:rPr lang="en-US"/>
              <a:t>11</a:t>
            </a:r>
            <a:endParaRPr/>
          </a:p>
        </p:txBody>
      </p:sp>
      <p:pic>
        <p:nvPicPr>
          <p:cNvPr id="17" name="Picture 16" descr="logo github Download png">
            <a:extLst>
              <a:ext uri="{FF2B5EF4-FFF2-40B4-BE49-F238E27FC236}">
                <a16:creationId xmlns:a16="http://schemas.microsoft.com/office/drawing/2014/main" id="{766CB744-7199-51B5-F767-D506C80D9B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439" y="6558279"/>
            <a:ext cx="162562" cy="1727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221D943-32B7-16E5-07CD-4CBF033E77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25040" y="1856295"/>
            <a:ext cx="7721600" cy="432397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62AF8399-964A-CE66-0AAB-A15BAB7D512F}"/>
              </a:ext>
            </a:extLst>
          </p:cNvPr>
          <p:cNvSpPr txBox="1"/>
          <p:nvPr/>
        </p:nvSpPr>
        <p:spPr>
          <a:xfrm>
            <a:off x="759968" y="6534912"/>
            <a:ext cx="548640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AFBED0"/>
                </a:solidFill>
                <a:latin typeface="Aptos"/>
              </a:defRPr>
            </a:pPr>
            <a:r>
              <a:t>Project</a:t>
            </a:r>
            <a:r>
              <a:rPr lang="en-US"/>
              <a:t>:</a:t>
            </a:r>
            <a:r>
              <a:rPr lang="en-US">
                <a:solidFill>
                  <a:srgbClr val="AFBED0"/>
                </a:solidFill>
              </a:rPr>
              <a:t> 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ea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https://github.com/ojas-kulkarni-emergys/sampling-kv-cache-lab</a:t>
            </a:r>
            <a:endParaRPr lang="en-US">
              <a:solidFill>
                <a:schemeClr val="tx2">
                  <a:lumMod val="60000"/>
                  <a:lumOff val="40000"/>
                </a:schemeClr>
              </a:solidFill>
              <a:ea typeface="+mn-lt"/>
              <a:cs typeface="+mn-lt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90D45A-CEEB-84F2-F350-16CD621BF9D9}"/>
              </a:ext>
            </a:extLst>
          </p:cNvPr>
          <p:cNvSpPr txBox="1"/>
          <p:nvPr/>
        </p:nvSpPr>
        <p:spPr>
          <a:xfrm>
            <a:off x="614680" y="1369568"/>
            <a:ext cx="1484702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rPr lang="en-US" sz="2000">
                <a:latin typeface="Aptos"/>
              </a:rPr>
              <a:t>URL: </a:t>
            </a:r>
            <a:r>
              <a:rPr lang="en-US" sz="2000" dirty="0">
                <a:solidFill>
                  <a:schemeClr val="tx2">
                    <a:lumMod val="76000"/>
                  </a:schemeClr>
                </a:solidFill>
                <a:latin typeface="Aptos"/>
                <a:ea typeface="Calibri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</a:t>
            </a:r>
            <a:endParaRPr lang="en-US" sz="2000">
              <a:solidFill>
                <a:schemeClr val="tx2">
                  <a:lumMod val="76000"/>
                </a:schemeClr>
              </a:solidFill>
              <a:latin typeface="Aptos"/>
              <a:ea typeface="Calibri"/>
              <a:cs typeface="Calibri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213920191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4398961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rPr lang="en-US">
                <a:latin typeface="Aptos"/>
              </a:rPr>
              <a:t>Model &amp; API Observability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92E7BBC-624C-557A-6E67-2EE4E569B642}"/>
              </a:ext>
            </a:extLst>
          </p:cNvPr>
          <p:cNvSpPr txBox="1"/>
          <p:nvPr/>
        </p:nvSpPr>
        <p:spPr>
          <a:xfrm>
            <a:off x="566928" y="276777"/>
            <a:ext cx="9144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6D3C4"/>
                </a:solidFill>
                <a:latin typeface="Aptos"/>
              </a:defRPr>
            </a:pPr>
            <a:r>
              <a:rPr lang="en-US"/>
              <a:t>08</a:t>
            </a:r>
            <a:r>
              <a:t>  / </a:t>
            </a:r>
            <a:r>
              <a:rPr lang="en-US" dirty="0"/>
              <a:t>Observability</a:t>
            </a: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A600FE2-6A0E-3547-E521-9748AFFCBEA6}"/>
              </a:ext>
            </a:extLst>
          </p:cNvPr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BC04BF8-5743-191C-3166-64E333F8F190}"/>
              </a:ext>
            </a:extLst>
          </p:cNvPr>
          <p:cNvSpPr txBox="1"/>
          <p:nvPr/>
        </p:nvSpPr>
        <p:spPr>
          <a:xfrm>
            <a:off x="11109960" y="6492240"/>
            <a:ext cx="41148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AFBED0"/>
                </a:solidFill>
                <a:latin typeface="Aptos"/>
              </a:defRPr>
            </a:pPr>
            <a:r>
              <a:rPr lang="en-US"/>
              <a:t>12</a:t>
            </a: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0EDB82A-A451-936D-F58C-E1BF8F4759C3}"/>
              </a:ext>
            </a:extLst>
          </p:cNvPr>
          <p:cNvSpPr txBox="1"/>
          <p:nvPr/>
        </p:nvSpPr>
        <p:spPr>
          <a:xfrm>
            <a:off x="759968" y="6534912"/>
            <a:ext cx="548640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AFBED0"/>
                </a:solidFill>
                <a:latin typeface="Aptos"/>
              </a:defRPr>
            </a:pPr>
            <a:r>
              <a:t>Project</a:t>
            </a:r>
            <a:r>
              <a:rPr lang="en-US"/>
              <a:t>:</a:t>
            </a:r>
            <a:r>
              <a:rPr lang="en-US">
                <a:solidFill>
                  <a:srgbClr val="AFBED0"/>
                </a:solidFill>
              </a:rPr>
              <a:t> 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https://github.com/ojas-kulkarni-emergys/k8s-setup</a:t>
            </a:r>
            <a:endParaRPr lang="en-US">
              <a:solidFill>
                <a:schemeClr val="tx2">
                  <a:lumMod val="60000"/>
                  <a:lumOff val="40000"/>
                </a:schemeClr>
              </a:solidFill>
              <a:ea typeface="+mn-lt"/>
              <a:cs typeface="+mn-lt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17" name="Picture 16" descr="logo github Download png">
            <a:extLst>
              <a:ext uri="{FF2B5EF4-FFF2-40B4-BE49-F238E27FC236}">
                <a16:creationId xmlns:a16="http://schemas.microsoft.com/office/drawing/2014/main" id="{252A8667-1C44-828D-635C-5A14CFEFEA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39" y="6558279"/>
            <a:ext cx="162562" cy="172722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04955A7-EC92-69D3-402A-65607968C789}"/>
              </a:ext>
            </a:extLst>
          </p:cNvPr>
          <p:cNvSpPr txBox="1"/>
          <p:nvPr/>
        </p:nvSpPr>
        <p:spPr>
          <a:xfrm>
            <a:off x="614680" y="1369568"/>
            <a:ext cx="3033074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rPr lang="en-US" sz="2000">
                <a:latin typeface="Aptos"/>
              </a:rPr>
              <a:t>Grafana: </a:t>
            </a:r>
            <a:r>
              <a:rPr lang="en-US" sz="2000" dirty="0">
                <a:solidFill>
                  <a:schemeClr val="tx2">
                    <a:lumMod val="76000"/>
                  </a:schemeClr>
                </a:solidFill>
                <a:latin typeface="Aptos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vLLM Overview</a:t>
            </a:r>
            <a:r>
              <a:rPr lang="en-US" sz="2000" dirty="0">
                <a:latin typeface="Aptos"/>
              </a:rPr>
              <a:t> </a:t>
            </a:r>
            <a:endParaRPr lang="en-US" sz="2000" dirty="0">
              <a:latin typeface="Aptos"/>
              <a:ea typeface="Calibri"/>
              <a:cs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C7B83F-BE46-E370-3A27-14CF514E666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0720" y="1769031"/>
            <a:ext cx="4389120" cy="260873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08CB153-8E58-FDCC-1939-1F7D9C610624}"/>
              </a:ext>
            </a:extLst>
          </p:cNvPr>
          <p:cNvSpPr txBox="1"/>
          <p:nvPr/>
        </p:nvSpPr>
        <p:spPr>
          <a:xfrm>
            <a:off x="756919" y="4407408"/>
            <a:ext cx="2641906" cy="181588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rPr lang="en-US" sz="1400">
                <a:latin typeface="Aptos"/>
              </a:rPr>
              <a:t> Metrics to track: </a:t>
            </a:r>
          </a:p>
          <a:p>
            <a:pPr marL="342900" indent="-342900">
              <a:buFont typeface="Calibri"/>
              <a:buChar char="-"/>
              <a:defRPr sz="2800" b="1">
                <a:solidFill>
                  <a:srgbClr val="0F2341"/>
                </a:solidFill>
              </a:defRPr>
            </a:pPr>
            <a:r>
              <a:rPr lang="en-US" sz="1400">
                <a:latin typeface="Aptos"/>
                <a:ea typeface="Calibri"/>
                <a:cs typeface="Calibri"/>
              </a:rPr>
              <a:t>TTFT</a:t>
            </a:r>
          </a:p>
          <a:p>
            <a:pPr marL="342900" indent="-342900">
              <a:buFont typeface="Calibri"/>
              <a:buChar char="-"/>
              <a:defRPr sz="2800" b="1">
                <a:solidFill>
                  <a:srgbClr val="0F2341"/>
                </a:solidFill>
              </a:defRPr>
            </a:pPr>
            <a:r>
              <a:rPr lang="en-US" sz="1400">
                <a:latin typeface="Aptos"/>
                <a:ea typeface="Calibri"/>
                <a:cs typeface="Calibri"/>
              </a:rPr>
              <a:t>TPOT (p95)</a:t>
            </a:r>
          </a:p>
          <a:p>
            <a:pPr marL="342900" indent="-342900">
              <a:buFont typeface="Calibri"/>
              <a:buChar char="-"/>
              <a:defRPr sz="2800" b="1">
                <a:solidFill>
                  <a:srgbClr val="0F2341"/>
                </a:solidFill>
              </a:defRPr>
            </a:pPr>
            <a:r>
              <a:rPr lang="en-US" sz="1400">
                <a:latin typeface="Aptos"/>
                <a:ea typeface="Calibri"/>
                <a:cs typeface="Calibri"/>
              </a:rPr>
              <a:t>Tokens/sec</a:t>
            </a:r>
          </a:p>
          <a:p>
            <a:pPr marL="342900" indent="-342900">
              <a:buFont typeface="Calibri"/>
              <a:buChar char="-"/>
              <a:defRPr sz="2800" b="1">
                <a:solidFill>
                  <a:srgbClr val="0F2341"/>
                </a:solidFill>
              </a:defRPr>
            </a:pPr>
            <a:r>
              <a:rPr lang="en-US" sz="1400">
                <a:latin typeface="Aptos"/>
                <a:ea typeface="Calibri"/>
                <a:cs typeface="Calibri"/>
              </a:rPr>
              <a:t>KV-cache utilization</a:t>
            </a:r>
          </a:p>
          <a:p>
            <a:pPr marL="342900" indent="-342900">
              <a:buFont typeface="Calibri"/>
              <a:buChar char="-"/>
              <a:defRPr sz="2800" b="1">
                <a:solidFill>
                  <a:srgbClr val="0F2341"/>
                </a:solidFill>
              </a:defRPr>
            </a:pPr>
            <a:r>
              <a:rPr lang="en-US" sz="1400">
                <a:latin typeface="Aptos"/>
                <a:ea typeface="Calibri"/>
                <a:cs typeface="Calibri"/>
              </a:rPr>
              <a:t>Prefill Time (p95)</a:t>
            </a:r>
          </a:p>
          <a:p>
            <a:pPr marL="342900" indent="-342900">
              <a:buFont typeface="Calibri"/>
              <a:buChar char="-"/>
              <a:defRPr sz="2800" b="1">
                <a:solidFill>
                  <a:srgbClr val="0F2341"/>
                </a:solidFill>
              </a:defRPr>
            </a:pPr>
            <a:r>
              <a:rPr lang="en-US" sz="1400">
                <a:latin typeface="Aptos"/>
                <a:ea typeface="Calibri"/>
                <a:cs typeface="Calibri"/>
              </a:rPr>
              <a:t>Latency</a:t>
            </a:r>
          </a:p>
          <a:p>
            <a:pPr marL="342900" indent="-342900">
              <a:buFont typeface="Calibri"/>
              <a:buChar char="-"/>
              <a:defRPr sz="2800" b="1">
                <a:solidFill>
                  <a:srgbClr val="0F2341"/>
                </a:solidFill>
              </a:defRPr>
            </a:pPr>
            <a:r>
              <a:rPr lang="en-US" sz="1400">
                <a:latin typeface="Aptos"/>
                <a:ea typeface="Calibri"/>
                <a:cs typeface="Calibri"/>
              </a:rPr>
              <a:t>Throughput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CCF392-7F9B-1239-BBB1-7E3BDB23B52D}"/>
              </a:ext>
            </a:extLst>
          </p:cNvPr>
          <p:cNvSpPr txBox="1"/>
          <p:nvPr/>
        </p:nvSpPr>
        <p:spPr>
          <a:xfrm>
            <a:off x="6243318" y="3584448"/>
            <a:ext cx="4145586" cy="160043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rPr lang="en-US" sz="1400">
                <a:latin typeface="Aptos"/>
              </a:rPr>
              <a:t>Note:</a:t>
            </a:r>
            <a:endParaRPr lang="en-US" sz="1400" dirty="0">
              <a:latin typeface="Aptos"/>
            </a:endParaRPr>
          </a:p>
          <a:p>
            <a:pPr marL="285750" indent="-285750">
              <a:buFont typeface="Calibri"/>
              <a:buChar char="-"/>
              <a:defRPr sz="2800" b="1">
                <a:solidFill>
                  <a:srgbClr val="0F2341"/>
                </a:solidFill>
              </a:defRPr>
            </a:pPr>
            <a:r>
              <a:rPr lang="en-US" sz="1400">
                <a:latin typeface="Aptos"/>
              </a:rPr>
              <a:t>Grafana queries Prometheus to get the metrics </a:t>
            </a:r>
            <a:endParaRPr lang="en-US">
              <a:ea typeface="Calibri"/>
              <a:cs typeface="Calibri"/>
            </a:endParaRPr>
          </a:p>
          <a:p>
            <a:pPr marL="285750" indent="-285750">
              <a:buFont typeface="Calibri"/>
              <a:buChar char="-"/>
              <a:defRPr sz="2800" b="1">
                <a:solidFill>
                  <a:srgbClr val="0F2341"/>
                </a:solidFill>
              </a:defRPr>
            </a:pPr>
            <a:r>
              <a:rPr lang="en-US" sz="1400">
                <a:latin typeface="Aptos"/>
              </a:rPr>
              <a:t>Preconfigured Dashboards are displayed on </a:t>
            </a:r>
            <a:r>
              <a:rPr lang="en-US" sz="1400" dirty="0">
                <a:latin typeface="Aptos"/>
              </a:rPr>
              <a:t>Grafana Dashboard</a:t>
            </a:r>
            <a:endParaRPr lang="en-US" dirty="0"/>
          </a:p>
          <a:p>
            <a:pPr marL="285750" indent="-285750">
              <a:buFont typeface="Calibri"/>
              <a:buChar char="-"/>
              <a:defRPr sz="2800" b="1">
                <a:solidFill>
                  <a:srgbClr val="0F2341"/>
                </a:solidFill>
              </a:defRPr>
            </a:pPr>
            <a:r>
              <a:rPr lang="en-US" sz="1400" dirty="0">
                <a:latin typeface="Aptos"/>
                <a:ea typeface="Calibri"/>
                <a:cs typeface="Calibri"/>
              </a:rPr>
              <a:t>Preconfigured Queries are run through </a:t>
            </a:r>
            <a:r>
              <a:rPr lang="en-US" sz="1400" dirty="0" err="1">
                <a:latin typeface="Aptos"/>
                <a:ea typeface="Calibri"/>
                <a:cs typeface="Calibri"/>
              </a:rPr>
              <a:t>PromQL</a:t>
            </a:r>
            <a:endParaRPr lang="en-US" sz="1400">
              <a:latin typeface="Aptos"/>
              <a:ea typeface="Calibri"/>
              <a:cs typeface="Calibri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A0EA86-D9C1-01A4-836D-A5612B06C1A6}"/>
              </a:ext>
            </a:extLst>
          </p:cNvPr>
          <p:cNvSpPr txBox="1"/>
          <p:nvPr/>
        </p:nvSpPr>
        <p:spPr>
          <a:xfrm>
            <a:off x="6243319" y="1369568"/>
            <a:ext cx="3120919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rPr lang="en-US" sz="2000">
                <a:latin typeface="Aptos"/>
              </a:rPr>
              <a:t>Prometheus:  </a:t>
            </a:r>
            <a:r>
              <a:rPr lang="en-US" sz="2000" dirty="0">
                <a:solidFill>
                  <a:schemeClr val="tx2">
                    <a:lumMod val="76000"/>
                  </a:schemeClr>
                </a:solidFill>
                <a:latin typeface="Aptos"/>
                <a:ea typeface="Calibri"/>
                <a:cs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PromQuery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45539938-48C9-5DFC-B92B-CBEF6EC2D87C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48400" y="1764006"/>
            <a:ext cx="5648960" cy="13081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44779F6-A4DE-78A2-65E5-321F74946D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D8C5D2B-C2E5-DE0A-0A41-F10BDCBDEC28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7B974E-6675-8387-066D-2716D411BCDA}"/>
              </a:ext>
            </a:extLst>
          </p:cNvPr>
          <p:cNvSpPr txBox="1"/>
          <p:nvPr/>
        </p:nvSpPr>
        <p:spPr>
          <a:xfrm>
            <a:off x="502920" y="749808"/>
            <a:ext cx="3655296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rPr lang="en-US">
                <a:latin typeface="Aptos"/>
              </a:rPr>
              <a:t>Cluster Observability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8E85C5A-35A3-22CE-67AF-7B647C5D8A63}"/>
              </a:ext>
            </a:extLst>
          </p:cNvPr>
          <p:cNvSpPr txBox="1"/>
          <p:nvPr/>
        </p:nvSpPr>
        <p:spPr>
          <a:xfrm>
            <a:off x="566928" y="276777"/>
            <a:ext cx="9144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000" b="1">
                <a:solidFill>
                  <a:srgbClr val="36D3C4"/>
                </a:solidFill>
                <a:latin typeface="Aptos"/>
              </a:defRPr>
            </a:pPr>
            <a:r>
              <a:rPr lang="en-US"/>
              <a:t>08 </a:t>
            </a:r>
            <a:r>
              <a:t> / </a:t>
            </a:r>
            <a:r>
              <a:rPr lang="en-US" dirty="0"/>
              <a:t>Observability</a:t>
            </a:r>
            <a:endParaRPr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6964480-6997-443C-867A-55DB59CB3648}"/>
              </a:ext>
            </a:extLst>
          </p:cNvPr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45A8245-E307-1A8E-519E-C0F4154DE6EC}"/>
              </a:ext>
            </a:extLst>
          </p:cNvPr>
          <p:cNvSpPr txBox="1"/>
          <p:nvPr/>
        </p:nvSpPr>
        <p:spPr>
          <a:xfrm>
            <a:off x="11109960" y="6492240"/>
            <a:ext cx="41148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AFBED0"/>
                </a:solidFill>
                <a:latin typeface="Aptos"/>
              </a:defRPr>
            </a:pPr>
            <a:r>
              <a:rPr lang="en-US"/>
              <a:t>13</a:t>
            </a: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9C7A576-6C4B-B62A-3254-590ECB13CE23}"/>
              </a:ext>
            </a:extLst>
          </p:cNvPr>
          <p:cNvSpPr txBox="1"/>
          <p:nvPr/>
        </p:nvSpPr>
        <p:spPr>
          <a:xfrm>
            <a:off x="759968" y="6534912"/>
            <a:ext cx="548640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AFBED0"/>
                </a:solidFill>
                <a:latin typeface="Aptos"/>
              </a:defRPr>
            </a:pPr>
            <a:r>
              <a:t>Project</a:t>
            </a:r>
            <a:r>
              <a:rPr lang="en-US"/>
              <a:t>:</a:t>
            </a:r>
            <a:r>
              <a:rPr lang="en-US">
                <a:solidFill>
                  <a:srgbClr val="AFBED0"/>
                </a:solidFill>
              </a:rPr>
              <a:t> </a:t>
            </a:r>
            <a:r>
              <a:rPr lang="en-US" dirty="0">
                <a:solidFill>
                  <a:schemeClr val="tx2">
                    <a:lumMod val="60000"/>
                    <a:lumOff val="40000"/>
                  </a:schemeClr>
                </a:solidFill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https://github.com/ojas-kulkarni-emergys/k8s-setup</a:t>
            </a:r>
            <a:endParaRPr lang="en-US">
              <a:solidFill>
                <a:schemeClr val="tx2">
                  <a:lumMod val="60000"/>
                  <a:lumOff val="40000"/>
                </a:schemeClr>
              </a:solidFill>
              <a:ea typeface="+mn-lt"/>
              <a:cs typeface="+mn-lt"/>
              <a:hlinkClick r:id="rId2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  <p:pic>
        <p:nvPicPr>
          <p:cNvPr id="17" name="Picture 16" descr="logo github Download png">
            <a:extLst>
              <a:ext uri="{FF2B5EF4-FFF2-40B4-BE49-F238E27FC236}">
                <a16:creationId xmlns:a16="http://schemas.microsoft.com/office/drawing/2014/main" id="{11E1D75E-6F27-4154-F505-023A46CE52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9439" y="6558279"/>
            <a:ext cx="162562" cy="17272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DCE2710-B944-04B5-D2FC-9E5F4697A8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8930" y="1837678"/>
            <a:ext cx="9378439" cy="431192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91D0A5C-9D1C-1237-8CD0-9BE69B6C5A48}"/>
              </a:ext>
            </a:extLst>
          </p:cNvPr>
          <p:cNvSpPr txBox="1"/>
          <p:nvPr/>
        </p:nvSpPr>
        <p:spPr>
          <a:xfrm>
            <a:off x="614680" y="1369568"/>
            <a:ext cx="2816220" cy="40011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rPr lang="en-US" sz="2000">
                <a:latin typeface="Aptos"/>
              </a:rPr>
              <a:t>Headlamp:</a:t>
            </a:r>
            <a:r>
              <a:rPr lang="en-US" sz="2000" dirty="0">
                <a:solidFill>
                  <a:schemeClr val="tx2">
                    <a:lumMod val="76000"/>
                  </a:schemeClr>
                </a:solidFill>
                <a:latin typeface="Aptos"/>
              </a:rPr>
              <a:t> </a:t>
            </a:r>
            <a:r>
              <a:rPr lang="en-US" sz="2000" dirty="0">
                <a:solidFill>
                  <a:schemeClr val="tx2">
                    <a:lumMod val="76000"/>
                  </a:schemeClr>
                </a:solidFill>
                <a:latin typeface="Aptos"/>
                <a:ea typeface="Calibri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2000">
              <a:solidFill>
                <a:schemeClr val="tx2">
                  <a:lumMod val="76000"/>
                </a:schemeClr>
              </a:solidFill>
              <a:latin typeface="Aptos"/>
              <a:ea typeface="Calibri"/>
              <a:cs typeface="Calibri"/>
              <a:hlinkClick r:id="rId5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413303071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28AD29E-43EA-B1FC-2F98-A180018284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5BC6140-9C1C-EA5A-16CD-A542E8732E8A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D77D43E-4A1A-EA8D-C044-9D119703CBC9}"/>
              </a:ext>
            </a:extLst>
          </p:cNvPr>
          <p:cNvSpPr txBox="1"/>
          <p:nvPr/>
        </p:nvSpPr>
        <p:spPr>
          <a:xfrm>
            <a:off x="724014" y="2034214"/>
            <a:ext cx="2018501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rPr lang="en-US" dirty="0">
                <a:latin typeface="Aptos"/>
              </a:rPr>
              <a:t>Demo </a:t>
            </a:r>
            <a:r>
              <a:rPr lang="en-US" dirty="0" err="1">
                <a:latin typeface="Aptos"/>
              </a:rPr>
              <a:t>Urls</a:t>
            </a:r>
            <a:r>
              <a:rPr lang="en-US" dirty="0">
                <a:latin typeface="Aptos"/>
              </a:rPr>
              <a:t>: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875955-F0FE-A501-C24D-60B7AAD34B89}"/>
              </a:ext>
            </a:extLst>
          </p:cNvPr>
          <p:cNvSpPr txBox="1"/>
          <p:nvPr/>
        </p:nvSpPr>
        <p:spPr>
          <a:xfrm>
            <a:off x="566928" y="276777"/>
            <a:ext cx="9144000" cy="228600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l">
              <a:spcAft>
                <a:spcPts val="600"/>
              </a:spcAft>
              <a:defRPr sz="1000" b="1">
                <a:solidFill>
                  <a:srgbClr val="36D3C4"/>
                </a:solidFill>
                <a:latin typeface="Aptos"/>
              </a:defRPr>
            </a:pPr>
            <a:r>
              <a:t>09  / </a:t>
            </a:r>
            <a:r>
              <a:rPr lang="en-US"/>
              <a:t>Overview</a:t>
            </a:r>
            <a:endParaRPr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1241312-B89F-9C1D-6A0A-55DB6ABC6EE6}"/>
              </a:ext>
            </a:extLst>
          </p:cNvPr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8D6D01-3429-4BFC-14AE-A1D5480FDF5B}"/>
              </a:ext>
            </a:extLst>
          </p:cNvPr>
          <p:cNvSpPr txBox="1"/>
          <p:nvPr/>
        </p:nvSpPr>
        <p:spPr>
          <a:xfrm>
            <a:off x="11109960" y="6492240"/>
            <a:ext cx="41148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AFBED0"/>
                </a:solidFill>
                <a:latin typeface="Aptos"/>
              </a:defRPr>
            </a:pPr>
            <a:r>
              <a:rPr lang="en-US"/>
              <a:t>14</a:t>
            </a:r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EA4B2-9A85-5AAE-F382-DA810EA4B21F}"/>
              </a:ext>
            </a:extLst>
          </p:cNvPr>
          <p:cNvSpPr txBox="1"/>
          <p:nvPr/>
        </p:nvSpPr>
        <p:spPr>
          <a:xfrm>
            <a:off x="744333" y="4614853"/>
            <a:ext cx="2318263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rPr lang="en-US" dirty="0" err="1">
                <a:latin typeface="Aptos"/>
              </a:rPr>
              <a:t>Github</a:t>
            </a:r>
            <a:r>
              <a:rPr lang="en-US" dirty="0">
                <a:latin typeface="Aptos"/>
              </a:rPr>
              <a:t> Repo:</a:t>
            </a:r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03732E1-9F09-4D78-B03D-71D5CA55E9A6}"/>
              </a:ext>
            </a:extLst>
          </p:cNvPr>
          <p:cNvSpPr txBox="1"/>
          <p:nvPr/>
        </p:nvSpPr>
        <p:spPr>
          <a:xfrm>
            <a:off x="1193208" y="5143598"/>
            <a:ext cx="6805683" cy="581698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marL="285750" indent="-285750">
              <a:spcAft>
                <a:spcPts val="600"/>
              </a:spcAft>
              <a:buFont typeface="Calibri"/>
              <a:buChar char="-"/>
              <a:defRPr sz="1000" b="0">
                <a:solidFill>
                  <a:srgbClr val="AFBED0"/>
                </a:solidFill>
                <a:latin typeface="Aptos"/>
              </a:defRPr>
            </a:pPr>
            <a:r>
              <a:rPr lang="en-US" sz="1400">
                <a:solidFill>
                  <a:srgbClr val="AFBED0"/>
                </a:solidFill>
                <a:latin typeface="Aptos"/>
              </a:rPr>
              <a:t>Project</a:t>
            </a:r>
            <a:r>
              <a:rPr lang="en-US" sz="1400"/>
              <a:t>: </a:t>
            </a: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ea typeface="Calibri"/>
                <a:cs typeface="Calibri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https://github.com/ojas-kulkarni-emergys/k8s-setup</a:t>
            </a:r>
            <a:endParaRPr lang="en-US" dirty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marL="285750" indent="-285750">
              <a:spcAft>
                <a:spcPts val="600"/>
              </a:spcAft>
              <a:buFont typeface="Calibri"/>
              <a:buChar char="-"/>
              <a:defRPr sz="1000" b="0">
                <a:solidFill>
                  <a:srgbClr val="AFBED0"/>
                </a:solidFill>
                <a:latin typeface="Aptos"/>
              </a:defRPr>
            </a:pPr>
            <a:r>
              <a:rPr lang="en-US" sz="1400">
                <a:solidFill>
                  <a:srgbClr val="AFBED0"/>
                </a:solidFill>
                <a:ea typeface="+mn-lt"/>
                <a:cs typeface="+mn-lt"/>
              </a:rPr>
              <a:t>Project: </a:t>
            </a:r>
            <a:r>
              <a:rPr lang="en-US" sz="1400" dirty="0">
                <a:solidFill>
                  <a:schemeClr val="tx2">
                    <a:lumMod val="60000"/>
                    <a:lumOff val="40000"/>
                  </a:schemeClr>
                </a:solidFill>
                <a:ea typeface="+mn-lt"/>
                <a:cs typeface="+mn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https://github.com/ojas-kulkarni-emergys/sampling-kv-cache-lab</a:t>
            </a:r>
            <a:endParaRPr lang="en-US" sz="1400" dirty="0">
              <a:solidFill>
                <a:schemeClr val="tx2">
                  <a:lumMod val="60000"/>
                  <a:lumOff val="40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71296004-D293-688C-A698-9D3F1D2465CB}"/>
              </a:ext>
            </a:extLst>
          </p:cNvPr>
          <p:cNvSpPr txBox="1"/>
          <p:nvPr/>
        </p:nvSpPr>
        <p:spPr>
          <a:xfrm>
            <a:off x="1191374" y="2593014"/>
            <a:ext cx="2816092" cy="1534203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 marL="285750" indent="-285750">
              <a:lnSpc>
                <a:spcPct val="150000"/>
              </a:lnSpc>
              <a:buFont typeface="Calibri"/>
              <a:buChar char="-"/>
              <a:defRPr sz="2800" b="1">
                <a:solidFill>
                  <a:srgbClr val="0F2341"/>
                </a:solidFill>
              </a:defRPr>
            </a:pPr>
            <a:r>
              <a:rPr lang="en-US" sz="1600" dirty="0" err="1">
                <a:latin typeface="Aptos"/>
              </a:rPr>
              <a:t>Gradio</a:t>
            </a:r>
            <a:r>
              <a:rPr lang="en-US" sz="1600" dirty="0">
                <a:latin typeface="Aptos"/>
              </a:rPr>
              <a:t> URL: </a:t>
            </a:r>
            <a:r>
              <a:rPr lang="en-US" sz="1600" dirty="0">
                <a:solidFill>
                  <a:schemeClr val="tx2">
                    <a:lumMod val="76000"/>
                  </a:schemeClr>
                </a:solidFill>
                <a:latin typeface="Aptos"/>
                <a:ea typeface="Calibri"/>
                <a:cs typeface="Calibri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</a:t>
            </a:r>
            <a:endParaRPr lang="en-US" sz="1600" dirty="0">
              <a:solidFill>
                <a:schemeClr val="tx2">
                  <a:lumMod val="76000"/>
                </a:schemeClr>
              </a:solidFill>
              <a:latin typeface="Aptos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Calibri"/>
              <a:buChar char="-"/>
              <a:defRPr sz="2800" b="1">
                <a:solidFill>
                  <a:srgbClr val="0F2341"/>
                </a:solidFill>
              </a:defRPr>
            </a:pPr>
            <a:r>
              <a:rPr lang="en-US" sz="1600">
                <a:solidFill>
                  <a:srgbClr val="0F2341"/>
                </a:solidFill>
                <a:latin typeface="Aptos"/>
                <a:ea typeface="Calibri"/>
                <a:cs typeface="Calibri"/>
              </a:rPr>
              <a:t>Grafana: </a:t>
            </a:r>
            <a:r>
              <a:rPr lang="en-US" sz="1600" dirty="0">
                <a:solidFill>
                  <a:schemeClr val="tx2">
                    <a:lumMod val="76000"/>
                  </a:schemeClr>
                </a:solidFill>
                <a:latin typeface="Aptos"/>
                <a:ea typeface="Calibri"/>
                <a:cs typeface="Calibri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vLLM Overview</a:t>
            </a:r>
            <a:r>
              <a:rPr lang="en-US" sz="1600" dirty="0">
                <a:solidFill>
                  <a:srgbClr val="0F2341"/>
                </a:solidFill>
                <a:latin typeface="Aptos"/>
                <a:ea typeface="Calibri"/>
                <a:cs typeface="Calibri"/>
              </a:rPr>
              <a:t> </a:t>
            </a:r>
            <a:endParaRPr lang="en-US" sz="1600">
              <a:solidFill>
                <a:srgbClr val="000000"/>
              </a:solidFill>
              <a:latin typeface="Aptos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Calibri"/>
              <a:buChar char="-"/>
              <a:defRPr sz="2800" b="1">
                <a:solidFill>
                  <a:srgbClr val="0F2341"/>
                </a:solidFill>
              </a:defRPr>
            </a:pPr>
            <a:r>
              <a:rPr lang="en-US" sz="1600">
                <a:solidFill>
                  <a:srgbClr val="0F2341"/>
                </a:solidFill>
                <a:latin typeface="Aptos"/>
                <a:ea typeface="Calibri"/>
                <a:cs typeface="Calibri"/>
              </a:rPr>
              <a:t>Prometheus:  </a:t>
            </a:r>
            <a:r>
              <a:rPr lang="en-US" sz="1600" dirty="0">
                <a:solidFill>
                  <a:schemeClr val="tx2">
                    <a:lumMod val="76000"/>
                  </a:schemeClr>
                </a:solidFill>
                <a:latin typeface="Aptos"/>
                <a:ea typeface="Calibri"/>
                <a:cs typeface="Calibri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PromQuery</a:t>
            </a:r>
            <a:endParaRPr lang="en-US" sz="1600" dirty="0">
              <a:solidFill>
                <a:schemeClr val="tx2">
                  <a:lumMod val="76000"/>
                </a:schemeClr>
              </a:solidFill>
              <a:latin typeface="Calibri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Calibri"/>
              <a:buChar char="-"/>
              <a:defRPr sz="2800" b="1">
                <a:solidFill>
                  <a:srgbClr val="0F2341"/>
                </a:solidFill>
              </a:defRPr>
            </a:pPr>
            <a:r>
              <a:rPr lang="en-US" sz="1600">
                <a:solidFill>
                  <a:srgbClr val="0F2341"/>
                </a:solidFill>
                <a:latin typeface="Aptos"/>
                <a:ea typeface="Calibri"/>
                <a:cs typeface="Calibri"/>
              </a:rPr>
              <a:t>Headlamp:</a:t>
            </a:r>
            <a:r>
              <a:rPr lang="en-US" sz="1600" dirty="0">
                <a:solidFill>
                  <a:schemeClr val="tx2">
                    <a:lumMod val="76000"/>
                  </a:schemeClr>
                </a:solidFill>
                <a:latin typeface="Aptos"/>
                <a:ea typeface="Calibri"/>
                <a:cs typeface="Calibri"/>
              </a:rPr>
              <a:t> </a:t>
            </a:r>
            <a:r>
              <a:rPr lang="en-US" sz="1600" dirty="0">
                <a:solidFill>
                  <a:schemeClr val="tx2">
                    <a:lumMod val="76000"/>
                  </a:schemeClr>
                </a:solidFill>
                <a:latin typeface="Aptos"/>
                <a:ea typeface="Calibri"/>
                <a:cs typeface="Calibri"/>
                <a:hlinkClick r:id="rId7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Dashboard</a:t>
            </a:r>
            <a:endParaRPr lang="en-US" sz="1600" dirty="0">
              <a:solidFill>
                <a:schemeClr val="tx2">
                  <a:lumMod val="76000"/>
                </a:schemeClr>
              </a:solidFill>
              <a:latin typeface="Aptos"/>
              <a:ea typeface="Calibri"/>
              <a:cs typeface="Calibri"/>
            </a:endParaRPr>
          </a:p>
        </p:txBody>
      </p:sp>
      <p:pic>
        <p:nvPicPr>
          <p:cNvPr id="22" name="Graphic 21" descr="Hugging Face's logo">
            <a:extLst>
              <a:ext uri="{FF2B5EF4-FFF2-40B4-BE49-F238E27FC236}">
                <a16:creationId xmlns:a16="http://schemas.microsoft.com/office/drawing/2014/main" id="{E209DE7B-8783-AF91-20A1-8172E6192FB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277114" y="826258"/>
            <a:ext cx="904875" cy="838200"/>
          </a:xfrm>
          <a:prstGeom prst="rect">
            <a:avLst/>
          </a:prstGeom>
        </p:spPr>
      </p:pic>
      <p:pic>
        <p:nvPicPr>
          <p:cNvPr id="25" name="Picture 24" descr="Download Kubernetes (k8s) Logo in SVG Vector or PNG File Format - Logo.wine">
            <a:extLst>
              <a:ext uri="{FF2B5EF4-FFF2-40B4-BE49-F238E27FC236}">
                <a16:creationId xmlns:a16="http://schemas.microsoft.com/office/drawing/2014/main" id="{89DA9877-1CB9-E4DE-610C-2BE26699020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22407" t="13750" r="24262" b="14065"/>
          <a:stretch>
            <a:fillRect/>
          </a:stretch>
        </p:blipFill>
        <p:spPr>
          <a:xfrm>
            <a:off x="823414" y="831376"/>
            <a:ext cx="905712" cy="831083"/>
          </a:xfrm>
          <a:prstGeom prst="rect">
            <a:avLst/>
          </a:prstGeom>
        </p:spPr>
      </p:pic>
      <p:pic>
        <p:nvPicPr>
          <p:cNvPr id="27" name="Picture 26" descr="logo github Download png">
            <a:extLst>
              <a:ext uri="{FF2B5EF4-FFF2-40B4-BE49-F238E27FC236}">
                <a16:creationId xmlns:a16="http://schemas.microsoft.com/office/drawing/2014/main" id="{C43BC034-EED5-A295-BAED-9975EFAA43B0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 r="6667"/>
          <a:stretch>
            <a:fillRect/>
          </a:stretch>
        </p:blipFill>
        <p:spPr>
          <a:xfrm>
            <a:off x="3787751" y="716081"/>
            <a:ext cx="908164" cy="944824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F9B24DD6-4B0A-0E7E-1824-FC6562FD4155}"/>
              </a:ext>
            </a:extLst>
          </p:cNvPr>
          <p:cNvSpPr txBox="1"/>
          <p:nvPr/>
        </p:nvSpPr>
        <p:spPr>
          <a:xfrm>
            <a:off x="607568" y="6494272"/>
            <a:ext cx="548640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AFBED0"/>
                </a:solidFill>
                <a:latin typeface="Aptos"/>
              </a:defRPr>
            </a:pPr>
            <a:r>
              <a:rPr lang="en-US">
                <a:solidFill>
                  <a:schemeClr val="tx2">
                    <a:lumMod val="76000"/>
                  </a:schemeClr>
                </a:solidFill>
              </a:rPr>
              <a:t>LLM</a:t>
            </a:r>
            <a:r>
              <a:rPr lang="en-US" dirty="0">
                <a:solidFill>
                  <a:schemeClr val="tx2">
                    <a:lumMod val="76000"/>
                  </a:schemeClr>
                </a:solidFill>
              </a:rPr>
              <a:t> Inference &amp; Sampling</a:t>
            </a:r>
            <a:endParaRPr lang="en-US">
              <a:solidFill>
                <a:schemeClr val="tx2">
                  <a:lumMod val="76000"/>
                </a:schemeClr>
              </a:solidFill>
              <a:ea typeface="+mn-lt"/>
              <a:cs typeface="+mn-lt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F9E109-1668-D4E7-CF8E-A52E43850DFF}"/>
              </a:ext>
            </a:extLst>
          </p:cNvPr>
          <p:cNvSpPr txBox="1"/>
          <p:nvPr/>
        </p:nvSpPr>
        <p:spPr>
          <a:xfrm>
            <a:off x="5143612" y="2034212"/>
            <a:ext cx="2910540" cy="523220"/>
          </a:xfrm>
          <a:prstGeom prst="rect">
            <a:avLst/>
          </a:prstGeom>
          <a:noFill/>
        </p:spPr>
        <p:txBody>
          <a:bodyPr wrap="non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rPr lang="en-US">
                <a:latin typeface="Aptos"/>
              </a:rPr>
              <a:t>Additional Links: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708CFB7-F5CE-4986-9D9C-2F4D8CED70BD}"/>
              </a:ext>
            </a:extLst>
          </p:cNvPr>
          <p:cNvSpPr txBox="1"/>
          <p:nvPr/>
        </p:nvSpPr>
        <p:spPr>
          <a:xfrm>
            <a:off x="5692253" y="2562533"/>
            <a:ext cx="6214834" cy="1931257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lnSpc>
                <a:spcPct val="150000"/>
              </a:lnSpc>
              <a:buFont typeface="Calibri"/>
              <a:buChar char="-"/>
              <a:defRPr sz="2800" b="1">
                <a:solidFill>
                  <a:srgbClr val="0F2341"/>
                </a:solidFill>
              </a:defRPr>
            </a:pPr>
            <a:r>
              <a:rPr lang="en-US" sz="1600" dirty="0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llm-d/llm-d: State of the art inference performance with modern </a:t>
            </a:r>
            <a:endParaRPr lang="en-US" sz="1600" dirty="0">
              <a:solidFill>
                <a:schemeClr val="tx2">
                  <a:lumMod val="76000"/>
                </a:schemeClr>
              </a:solidFill>
              <a:latin typeface="Aptos"/>
              <a:ea typeface="+mn-lt"/>
              <a:cs typeface="+mn-lt"/>
            </a:endParaRPr>
          </a:p>
          <a:p>
            <a:pPr>
              <a:lnSpc>
                <a:spcPct val="150000"/>
              </a:lnSpc>
              <a:defRPr sz="2800" b="1">
                <a:solidFill>
                  <a:srgbClr val="0F2341"/>
                </a:solidFill>
              </a:defRPr>
            </a:pPr>
            <a:r>
              <a:rPr lang="en-US" sz="1600" dirty="0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  <a:hlinkClick r:id="rId11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accelerators on Kubernetes</a:t>
            </a:r>
            <a:endParaRPr lang="en-US" sz="1600">
              <a:solidFill>
                <a:schemeClr val="tx2">
                  <a:lumMod val="76000"/>
                </a:schemeClr>
              </a:solidFill>
              <a:latin typeface="Aptos"/>
              <a:ea typeface="Calibri"/>
              <a:cs typeface="Calibri"/>
            </a:endParaRPr>
          </a:p>
          <a:p>
            <a:pPr marL="285750" indent="-285750">
              <a:lnSpc>
                <a:spcPct val="150000"/>
              </a:lnSpc>
              <a:buFont typeface="Calibri"/>
              <a:buChar char="-"/>
              <a:defRPr sz="2800" b="1">
                <a:solidFill>
                  <a:srgbClr val="0F2341"/>
                </a:solidFill>
              </a:defRPr>
            </a:pPr>
            <a:r>
              <a:rPr lang="en-US" sz="1600" dirty="0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  <a:hlinkClick r:id="rId1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Machines - Tailscale</a:t>
            </a:r>
            <a:endParaRPr lang="en-US" sz="1600">
              <a:solidFill>
                <a:schemeClr val="tx2">
                  <a:lumMod val="76000"/>
                </a:schemeClr>
              </a:solidFill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Calibri"/>
              <a:buChar char="-"/>
              <a:defRPr sz="2800" b="1">
                <a:solidFill>
                  <a:srgbClr val="0F2341"/>
                </a:solidFill>
              </a:defRPr>
            </a:pPr>
            <a:r>
              <a:rPr lang="en-US" sz="1600" dirty="0">
                <a:solidFill>
                  <a:schemeClr val="tx2">
                    <a:lumMod val="76000"/>
                  </a:schemeClr>
                </a:solidFill>
                <a:ea typeface="+mn-lt"/>
                <a:cs typeface="+mn-lt"/>
                <a:hlinkClick r:id="rId1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System Architecture | Miro Board</a:t>
            </a:r>
            <a:endParaRPr lang="en-US" sz="1600">
              <a:solidFill>
                <a:schemeClr val="tx2">
                  <a:lumMod val="76000"/>
                </a:schemeClr>
              </a:solidFill>
              <a:ea typeface="+mn-lt"/>
              <a:cs typeface="+mn-lt"/>
            </a:endParaRPr>
          </a:p>
          <a:p>
            <a:pPr marL="285750" indent="-285750">
              <a:lnSpc>
                <a:spcPct val="150000"/>
              </a:lnSpc>
              <a:buFont typeface="Calibri"/>
              <a:buChar char="-"/>
              <a:defRPr sz="2800" b="1">
                <a:solidFill>
                  <a:srgbClr val="0F2341"/>
                </a:solidFill>
              </a:defRPr>
            </a:pPr>
            <a:endParaRPr lang="en-US" sz="1600" dirty="0">
              <a:solidFill>
                <a:srgbClr val="0F2341"/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9926770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F439557-6479-6EAE-9638-CE20006B57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199183B-88C5-6DC3-189E-E84CFAB20693}"/>
              </a:ext>
            </a:extLst>
          </p:cNvPr>
          <p:cNvSpPr/>
          <p:nvPr/>
        </p:nvSpPr>
        <p:spPr>
          <a:xfrm>
            <a:off x="0" y="0"/>
            <a:ext cx="12191695" cy="502920"/>
          </a:xfrm>
          <a:prstGeom prst="rect">
            <a:avLst/>
          </a:prstGeom>
          <a:solidFill>
            <a:srgbClr val="0F23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FE0653-B7CC-BAB7-AEBE-7BB18F274BBD}"/>
              </a:ext>
            </a:extLst>
          </p:cNvPr>
          <p:cNvSpPr txBox="1"/>
          <p:nvPr/>
        </p:nvSpPr>
        <p:spPr>
          <a:xfrm>
            <a:off x="4648200" y="2822448"/>
            <a:ext cx="2871759" cy="76944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defRPr sz="2800" b="1">
                <a:solidFill>
                  <a:srgbClr val="0F2341"/>
                </a:solidFill>
              </a:defRPr>
            </a:pPr>
            <a:r>
              <a:rPr lang="en-US" sz="4400">
                <a:latin typeface="Aptos"/>
              </a:rPr>
              <a:t>Thank you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AD8024F-F2D0-0E1F-1E2F-2FBC6F6213D6}"/>
              </a:ext>
            </a:extLst>
          </p:cNvPr>
          <p:cNvSpPr/>
          <p:nvPr/>
        </p:nvSpPr>
        <p:spPr>
          <a:xfrm>
            <a:off x="566928" y="6473952"/>
            <a:ext cx="11045952" cy="10972"/>
          </a:xfrm>
          <a:prstGeom prst="rect">
            <a:avLst/>
          </a:prstGeom>
          <a:solidFill>
            <a:srgbClr val="1F35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D273F0F-00A5-B8E7-9EFD-A67C2C3F8D04}"/>
              </a:ext>
            </a:extLst>
          </p:cNvPr>
          <p:cNvSpPr txBox="1"/>
          <p:nvPr/>
        </p:nvSpPr>
        <p:spPr>
          <a:xfrm>
            <a:off x="11109960" y="6492240"/>
            <a:ext cx="411480" cy="212366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 algn="r">
              <a:spcAft>
                <a:spcPts val="600"/>
              </a:spcAft>
              <a:defRPr sz="900" b="1">
                <a:solidFill>
                  <a:srgbClr val="AFBED0"/>
                </a:solidFill>
                <a:latin typeface="Aptos"/>
              </a:defRPr>
            </a:pPr>
            <a:r>
              <a:rPr lang="en-US"/>
              <a:t>13</a:t>
            </a:r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77A2CD3-7904-F752-CA0D-AB5ABF1C0B02}"/>
              </a:ext>
            </a:extLst>
          </p:cNvPr>
          <p:cNvSpPr txBox="1"/>
          <p:nvPr/>
        </p:nvSpPr>
        <p:spPr>
          <a:xfrm>
            <a:off x="607568" y="6494272"/>
            <a:ext cx="5486400" cy="227755"/>
          </a:xfrm>
          <a:prstGeom prst="rect">
            <a:avLst/>
          </a:prstGeom>
          <a:noFill/>
        </p:spPr>
        <p:txBody>
          <a:bodyPr wrap="square" lIns="36576" tIns="36576" rIns="36576" bIns="36576" anchor="t">
            <a:spAutoFit/>
          </a:bodyPr>
          <a:lstStyle/>
          <a:p>
            <a:pPr>
              <a:spcAft>
                <a:spcPts val="600"/>
              </a:spcAft>
              <a:defRPr sz="1000" b="0">
                <a:solidFill>
                  <a:srgbClr val="AFBED0"/>
                </a:solidFill>
                <a:latin typeface="Aptos"/>
              </a:defRPr>
            </a:pPr>
            <a:r>
              <a:rPr lang="en-US">
                <a:solidFill>
                  <a:schemeClr val="tx2">
                    <a:lumMod val="76000"/>
                  </a:schemeClr>
                </a:solidFill>
              </a:rPr>
              <a:t>LLM</a:t>
            </a:r>
            <a:r>
              <a:rPr lang="en-US" dirty="0">
                <a:solidFill>
                  <a:schemeClr val="tx2">
                    <a:lumMod val="76000"/>
                  </a:schemeClr>
                </a:solidFill>
              </a:rPr>
              <a:t> Inference &amp; Sampling</a:t>
            </a:r>
            <a:endParaRPr lang="en-US">
              <a:solidFill>
                <a:schemeClr val="tx2">
                  <a:lumMod val="76000"/>
                </a:schemeClr>
              </a:solidFill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882948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663</cp:revision>
  <dcterms:created xsi:type="dcterms:W3CDTF">2013-01-27T09:14:16Z</dcterms:created>
  <dcterms:modified xsi:type="dcterms:W3CDTF">2026-10-27T14:16:35Z</dcterms:modified>
  <cp:category/>
</cp:coreProperties>
</file>